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9"/>
  </p:notesMasterIdLst>
  <p:sldIdLst>
    <p:sldId id="3452" r:id="rId2"/>
    <p:sldId id="3412" r:id="rId3"/>
    <p:sldId id="3451" r:id="rId4"/>
    <p:sldId id="3414" r:id="rId5"/>
    <p:sldId id="3422" r:id="rId6"/>
    <p:sldId id="3431" r:id="rId7"/>
    <p:sldId id="3378" r:id="rId8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958" userDrawn="1">
          <p15:clr>
            <a:srgbClr val="A4A3A4"/>
          </p15:clr>
        </p15:guide>
        <p15:guide id="54" orient="horz" pos="480" userDrawn="1">
          <p15:clr>
            <a:srgbClr val="A4A3A4"/>
          </p15:clr>
        </p15:guide>
        <p15:guide id="55" orient="horz" pos="8160" userDrawn="1">
          <p15:clr>
            <a:srgbClr val="A4A3A4"/>
          </p15:clr>
        </p15:guide>
        <p15:guide id="56" pos="143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BB33"/>
    <a:srgbClr val="F4D685"/>
    <a:srgbClr val="FFCC99"/>
    <a:srgbClr val="FFCC00"/>
    <a:srgbClr val="F2F2F2"/>
    <a:srgbClr val="659FC0"/>
    <a:srgbClr val="2B526A"/>
    <a:srgbClr val="CCF6FF"/>
    <a:srgbClr val="5178B3"/>
    <a:srgbClr val="2CB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83" autoAdjust="0"/>
    <p:restoredTop sz="95439" autoAdjust="0"/>
  </p:normalViewPr>
  <p:slideViewPr>
    <p:cSldViewPr snapToGrid="0" snapToObjects="1">
      <p:cViewPr varScale="1">
        <p:scale>
          <a:sx n="54" d="100"/>
          <a:sy n="54" d="100"/>
        </p:scale>
        <p:origin x="168" y="270"/>
      </p:cViewPr>
      <p:guideLst>
        <p:guide pos="958"/>
        <p:guide orient="horz" pos="480"/>
        <p:guide orient="horz" pos="8160"/>
        <p:guide pos="14398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9/12/2021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70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9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538EA4D-B71F-3E47-9CEB-B59B2E557C88}"/>
              </a:ext>
            </a:extLst>
          </p:cNvPr>
          <p:cNvSpPr/>
          <p:nvPr userDrawn="1"/>
        </p:nvSpPr>
        <p:spPr>
          <a:xfrm>
            <a:off x="22266428" y="753924"/>
            <a:ext cx="595423" cy="595423"/>
          </a:xfrm>
          <a:prstGeom prst="ellipse">
            <a:avLst/>
          </a:prstGeom>
          <a:solidFill>
            <a:srgbClr val="659F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22276635" y="769107"/>
            <a:ext cx="585216" cy="584269"/>
          </a:xfrm>
          <a:prstGeom prst="ellipse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C2130A1F-96FE-9345-9E91-FD9BE4197128}" type="slidenum">
              <a:rPr lang="en-US" sz="21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2100" b="0" i="0" spc="0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80" r:id="rId2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9272-318B-4076-A7B8-1303286A57A8}"/>
              </a:ext>
            </a:extLst>
          </p:cNvPr>
          <p:cNvSpPr txBox="1">
            <a:spLocks/>
          </p:cNvSpPr>
          <p:nvPr/>
        </p:nvSpPr>
        <p:spPr>
          <a:xfrm>
            <a:off x="4485974" y="5015784"/>
            <a:ext cx="17064355" cy="151177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b="1" i="0" kern="1200">
                <a:solidFill>
                  <a:schemeClr val="tx2"/>
                </a:solidFill>
                <a:latin typeface="Poppins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Sales Incentive Plan Enhancements 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C2F1AE-B9B8-4C83-8134-763799A24A61}"/>
              </a:ext>
            </a:extLst>
          </p:cNvPr>
          <p:cNvGrpSpPr/>
          <p:nvPr/>
        </p:nvGrpSpPr>
        <p:grpSpPr>
          <a:xfrm>
            <a:off x="3982052" y="5507951"/>
            <a:ext cx="13033499" cy="4130018"/>
            <a:chOff x="1586" y="1592796"/>
            <a:chExt cx="5051529" cy="2065547"/>
          </a:xfrm>
        </p:grpSpPr>
        <p:sp>
          <p:nvSpPr>
            <p:cNvPr id="4" name="Shape 43422">
              <a:extLst>
                <a:ext uri="{FF2B5EF4-FFF2-40B4-BE49-F238E27FC236}">
                  <a16:creationId xmlns:a16="http://schemas.microsoft.com/office/drawing/2014/main" id="{65976E2A-B885-4C2F-9F59-EA493F124CFF}"/>
                </a:ext>
              </a:extLst>
            </p:cNvPr>
            <p:cNvSpPr/>
            <p:nvPr/>
          </p:nvSpPr>
          <p:spPr>
            <a:xfrm rot="5400000" flipH="1">
              <a:off x="-137775" y="1732157"/>
              <a:ext cx="2016652" cy="173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5" name="Shape 43429">
              <a:extLst>
                <a:ext uri="{FF2B5EF4-FFF2-40B4-BE49-F238E27FC236}">
                  <a16:creationId xmlns:a16="http://schemas.microsoft.com/office/drawing/2014/main" id="{7D83DF07-5EDC-409B-99D4-F35C146D59BF}"/>
                </a:ext>
              </a:extLst>
            </p:cNvPr>
            <p:cNvSpPr/>
            <p:nvPr/>
          </p:nvSpPr>
          <p:spPr>
            <a:xfrm rot="5400000">
              <a:off x="3939035" y="2544263"/>
              <a:ext cx="1019936" cy="1208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13" extrusionOk="0">
                  <a:moveTo>
                    <a:pt x="4399" y="0"/>
                  </a:moveTo>
                  <a:cubicBezTo>
                    <a:pt x="3834" y="0"/>
                    <a:pt x="3327" y="201"/>
                    <a:pt x="2957" y="522"/>
                  </a:cubicBezTo>
                  <a:cubicBezTo>
                    <a:pt x="2587" y="842"/>
                    <a:pt x="2356" y="1283"/>
                    <a:pt x="2356" y="1772"/>
                  </a:cubicBezTo>
                  <a:lnTo>
                    <a:pt x="2356" y="2415"/>
                  </a:lnTo>
                  <a:lnTo>
                    <a:pt x="2356" y="3551"/>
                  </a:lnTo>
                  <a:lnTo>
                    <a:pt x="2356" y="7143"/>
                  </a:lnTo>
                  <a:cubicBezTo>
                    <a:pt x="2229" y="7136"/>
                    <a:pt x="2102" y="7138"/>
                    <a:pt x="1977" y="7150"/>
                  </a:cubicBezTo>
                  <a:cubicBezTo>
                    <a:pt x="1225" y="7218"/>
                    <a:pt x="551" y="7601"/>
                    <a:pt x="214" y="8186"/>
                  </a:cubicBezTo>
                  <a:cubicBezTo>
                    <a:pt x="-21" y="8593"/>
                    <a:pt x="-74" y="9082"/>
                    <a:pt x="115" y="9543"/>
                  </a:cubicBezTo>
                  <a:cubicBezTo>
                    <a:pt x="852" y="11613"/>
                    <a:pt x="1671" y="13662"/>
                    <a:pt x="2578" y="15681"/>
                  </a:cubicBezTo>
                  <a:cubicBezTo>
                    <a:pt x="3077" y="16791"/>
                    <a:pt x="3617" y="17897"/>
                    <a:pt x="4481" y="18825"/>
                  </a:cubicBezTo>
                  <a:cubicBezTo>
                    <a:pt x="5214" y="19612"/>
                    <a:pt x="6220" y="20276"/>
                    <a:pt x="7513" y="20768"/>
                  </a:cubicBezTo>
                  <a:cubicBezTo>
                    <a:pt x="9108" y="21376"/>
                    <a:pt x="10859" y="21600"/>
                    <a:pt x="12596" y="21483"/>
                  </a:cubicBezTo>
                  <a:cubicBezTo>
                    <a:pt x="14857" y="21330"/>
                    <a:pt x="16991" y="20631"/>
                    <a:pt x="18528" y="19296"/>
                  </a:cubicBezTo>
                  <a:cubicBezTo>
                    <a:pt x="20567" y="17525"/>
                    <a:pt x="21227" y="14955"/>
                    <a:pt x="21419" y="12443"/>
                  </a:cubicBezTo>
                  <a:cubicBezTo>
                    <a:pt x="21526" y="11054"/>
                    <a:pt x="21507" y="9660"/>
                    <a:pt x="21495" y="8268"/>
                  </a:cubicBezTo>
                  <a:cubicBezTo>
                    <a:pt x="21483" y="6724"/>
                    <a:pt x="21481" y="5179"/>
                    <a:pt x="21485" y="3634"/>
                  </a:cubicBezTo>
                  <a:cubicBezTo>
                    <a:pt x="21487" y="3145"/>
                    <a:pt x="21262" y="2705"/>
                    <a:pt x="20892" y="2384"/>
                  </a:cubicBezTo>
                  <a:cubicBezTo>
                    <a:pt x="20523" y="2064"/>
                    <a:pt x="20006" y="1863"/>
                    <a:pt x="19442" y="1863"/>
                  </a:cubicBezTo>
                  <a:lnTo>
                    <a:pt x="19220" y="1863"/>
                  </a:lnTo>
                  <a:cubicBezTo>
                    <a:pt x="18658" y="1870"/>
                    <a:pt x="18152" y="2069"/>
                    <a:pt x="17778" y="2384"/>
                  </a:cubicBezTo>
                  <a:cubicBezTo>
                    <a:pt x="17398" y="2704"/>
                    <a:pt x="17167" y="3148"/>
                    <a:pt x="17146" y="3638"/>
                  </a:cubicBezTo>
                  <a:lnTo>
                    <a:pt x="16550" y="3538"/>
                  </a:lnTo>
                  <a:lnTo>
                    <a:pt x="16550" y="3047"/>
                  </a:lnTo>
                  <a:cubicBezTo>
                    <a:pt x="16551" y="2558"/>
                    <a:pt x="16322" y="2115"/>
                    <a:pt x="15952" y="1794"/>
                  </a:cubicBezTo>
                  <a:cubicBezTo>
                    <a:pt x="15582" y="1473"/>
                    <a:pt x="15072" y="1275"/>
                    <a:pt x="14507" y="1275"/>
                  </a:cubicBezTo>
                  <a:lnTo>
                    <a:pt x="14277" y="1275"/>
                  </a:lnTo>
                  <a:cubicBezTo>
                    <a:pt x="13716" y="1285"/>
                    <a:pt x="13211" y="1481"/>
                    <a:pt x="12836" y="1794"/>
                  </a:cubicBezTo>
                  <a:cubicBezTo>
                    <a:pt x="12491" y="2083"/>
                    <a:pt x="12257" y="2472"/>
                    <a:pt x="12195" y="2911"/>
                  </a:cubicBezTo>
                  <a:lnTo>
                    <a:pt x="12164" y="2917"/>
                  </a:lnTo>
                  <a:lnTo>
                    <a:pt x="11537" y="2837"/>
                  </a:lnTo>
                  <a:lnTo>
                    <a:pt x="11607" y="2217"/>
                  </a:lnTo>
                  <a:cubicBezTo>
                    <a:pt x="11607" y="1727"/>
                    <a:pt x="11379" y="1284"/>
                    <a:pt x="11009" y="964"/>
                  </a:cubicBezTo>
                  <a:cubicBezTo>
                    <a:pt x="10639" y="643"/>
                    <a:pt x="10128" y="445"/>
                    <a:pt x="9564" y="445"/>
                  </a:cubicBezTo>
                  <a:lnTo>
                    <a:pt x="9342" y="445"/>
                  </a:lnTo>
                  <a:cubicBezTo>
                    <a:pt x="8780" y="453"/>
                    <a:pt x="8272" y="649"/>
                    <a:pt x="7897" y="964"/>
                  </a:cubicBezTo>
                  <a:cubicBezTo>
                    <a:pt x="7523" y="1278"/>
                    <a:pt x="7280" y="1711"/>
                    <a:pt x="7252" y="2196"/>
                  </a:cubicBezTo>
                  <a:lnTo>
                    <a:pt x="7252" y="2185"/>
                  </a:lnTo>
                  <a:lnTo>
                    <a:pt x="6634" y="2107"/>
                  </a:lnTo>
                  <a:lnTo>
                    <a:pt x="6664" y="1772"/>
                  </a:lnTo>
                  <a:cubicBezTo>
                    <a:pt x="6664" y="1283"/>
                    <a:pt x="6441" y="842"/>
                    <a:pt x="6071" y="522"/>
                  </a:cubicBezTo>
                  <a:cubicBezTo>
                    <a:pt x="5701" y="201"/>
                    <a:pt x="5185" y="0"/>
                    <a:pt x="4621" y="0"/>
                  </a:cubicBezTo>
                  <a:lnTo>
                    <a:pt x="439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3564" tIns="53564" rIns="53564" bIns="53564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6" name="Shape 43431">
              <a:extLst>
                <a:ext uri="{FF2B5EF4-FFF2-40B4-BE49-F238E27FC236}">
                  <a16:creationId xmlns:a16="http://schemas.microsoft.com/office/drawing/2014/main" id="{FF224E7E-D6F5-4D71-BAD8-B2C10580186E}"/>
                </a:ext>
              </a:extLst>
            </p:cNvPr>
            <p:cNvSpPr/>
            <p:nvPr/>
          </p:nvSpPr>
          <p:spPr>
            <a:xfrm>
              <a:off x="1588" y="2742609"/>
              <a:ext cx="3874461" cy="866839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185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ame Side Corner Rectangle 1">
            <a:extLst>
              <a:ext uri="{FF2B5EF4-FFF2-40B4-BE49-F238E27FC236}">
                <a16:creationId xmlns:a16="http://schemas.microsoft.com/office/drawing/2014/main" id="{863AA552-ED20-DC4B-9C90-53AAAFFC4510}"/>
              </a:ext>
            </a:extLst>
          </p:cNvPr>
          <p:cNvSpPr/>
          <p:nvPr/>
        </p:nvSpPr>
        <p:spPr>
          <a:xfrm rot="5400000">
            <a:off x="19292921" y="1994782"/>
            <a:ext cx="964740" cy="779068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" name="Round Same Side Corner Rectangle 2">
            <a:extLst>
              <a:ext uri="{FF2B5EF4-FFF2-40B4-BE49-F238E27FC236}">
                <a16:creationId xmlns:a16="http://schemas.microsoft.com/office/drawing/2014/main" id="{CFBC0E58-90FE-8F4C-A8A0-0EF5FE4A9CE7}"/>
              </a:ext>
            </a:extLst>
          </p:cNvPr>
          <p:cNvSpPr/>
          <p:nvPr/>
        </p:nvSpPr>
        <p:spPr>
          <a:xfrm rot="5400000">
            <a:off x="19292923" y="3566680"/>
            <a:ext cx="964740" cy="779068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4CFA082-C6BF-AF4F-A588-5CA6C2E772D3}"/>
              </a:ext>
            </a:extLst>
          </p:cNvPr>
          <p:cNvSpPr/>
          <p:nvPr/>
        </p:nvSpPr>
        <p:spPr>
          <a:xfrm rot="5400000">
            <a:off x="19292921" y="5138578"/>
            <a:ext cx="964740" cy="779068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5675657F-90CF-6649-AA74-F078FA8C6C55}"/>
              </a:ext>
            </a:extLst>
          </p:cNvPr>
          <p:cNvSpPr/>
          <p:nvPr/>
        </p:nvSpPr>
        <p:spPr>
          <a:xfrm rot="5400000">
            <a:off x="19292923" y="6710475"/>
            <a:ext cx="964740" cy="779068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B1BC0B19-4772-B943-9FDF-233D037AF2E3}"/>
              </a:ext>
            </a:extLst>
          </p:cNvPr>
          <p:cNvSpPr/>
          <p:nvPr/>
        </p:nvSpPr>
        <p:spPr>
          <a:xfrm rot="5400000">
            <a:off x="19042551" y="8532744"/>
            <a:ext cx="1465483" cy="779068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F71230AC-40E4-0A40-AFDE-AE87E0D1EA6D}"/>
              </a:ext>
            </a:extLst>
          </p:cNvPr>
          <p:cNvSpPr/>
          <p:nvPr/>
        </p:nvSpPr>
        <p:spPr>
          <a:xfrm rot="16200000">
            <a:off x="4347277" y="1996625"/>
            <a:ext cx="964740" cy="7793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8AF6D38C-730D-9D40-9ECE-3FCBA20438F0}"/>
              </a:ext>
            </a:extLst>
          </p:cNvPr>
          <p:cNvSpPr/>
          <p:nvPr/>
        </p:nvSpPr>
        <p:spPr>
          <a:xfrm rot="16200000">
            <a:off x="4347279" y="3568523"/>
            <a:ext cx="964740" cy="7793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Round Same Side Corner Rectangle 13">
            <a:extLst>
              <a:ext uri="{FF2B5EF4-FFF2-40B4-BE49-F238E27FC236}">
                <a16:creationId xmlns:a16="http://schemas.microsoft.com/office/drawing/2014/main" id="{D52505C6-7AD1-064A-BCC9-16B7AA064838}"/>
              </a:ext>
            </a:extLst>
          </p:cNvPr>
          <p:cNvSpPr/>
          <p:nvPr/>
        </p:nvSpPr>
        <p:spPr>
          <a:xfrm rot="16200000">
            <a:off x="4347277" y="5140420"/>
            <a:ext cx="964740" cy="7793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9DAEFF1A-6B04-2B42-BD5B-3B0A7ABF781F}"/>
              </a:ext>
            </a:extLst>
          </p:cNvPr>
          <p:cNvSpPr/>
          <p:nvPr/>
        </p:nvSpPr>
        <p:spPr>
          <a:xfrm rot="16200000">
            <a:off x="4347279" y="6712318"/>
            <a:ext cx="964740" cy="7793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953B2138-43FE-564C-8212-A19650121200}"/>
              </a:ext>
            </a:extLst>
          </p:cNvPr>
          <p:cNvSpPr/>
          <p:nvPr/>
        </p:nvSpPr>
        <p:spPr>
          <a:xfrm rot="16200000">
            <a:off x="4096907" y="8534587"/>
            <a:ext cx="1465483" cy="7793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2FCDF8-D316-A849-BE18-AE1FD4612575}"/>
              </a:ext>
            </a:extLst>
          </p:cNvPr>
          <p:cNvSpPr txBox="1"/>
          <p:nvPr/>
        </p:nvSpPr>
        <p:spPr>
          <a:xfrm>
            <a:off x="11307338" y="5631661"/>
            <a:ext cx="1766830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FACTORS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965F7-5D62-1B46-8B2F-47E0D79D57A5}"/>
              </a:ext>
            </a:extLst>
          </p:cNvPr>
          <p:cNvSpPr txBox="1"/>
          <p:nvPr/>
        </p:nvSpPr>
        <p:spPr>
          <a:xfrm>
            <a:off x="10410459" y="7203559"/>
            <a:ext cx="3560590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PAYMENT METHOD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DD6479-8BC6-8E47-9ED2-E98B922F3871}"/>
              </a:ext>
            </a:extLst>
          </p:cNvPr>
          <p:cNvSpPr txBox="1"/>
          <p:nvPr/>
        </p:nvSpPr>
        <p:spPr>
          <a:xfrm>
            <a:off x="8794635" y="8775456"/>
            <a:ext cx="6792245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CUSTOMER EXPERENCE MEASURMENT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F1F9B2-9F5A-624F-B4C9-ED32BCB40C3C}"/>
              </a:ext>
            </a:extLst>
          </p:cNvPr>
          <p:cNvSpPr txBox="1"/>
          <p:nvPr/>
        </p:nvSpPr>
        <p:spPr>
          <a:xfrm>
            <a:off x="9008640" y="10347354"/>
            <a:ext cx="6364243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PAYMENT CALCULATION BASED 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997512-8508-394B-BFC0-15FA2D53176F}"/>
              </a:ext>
            </a:extLst>
          </p:cNvPr>
          <p:cNvSpPr txBox="1"/>
          <p:nvPr/>
        </p:nvSpPr>
        <p:spPr>
          <a:xfrm>
            <a:off x="10983534" y="12177897"/>
            <a:ext cx="2414443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MECHANISM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EBE445-C84C-2A40-AF04-7EF4EC22FB7B}"/>
              </a:ext>
            </a:extLst>
          </p:cNvPr>
          <p:cNvSpPr txBox="1"/>
          <p:nvPr/>
        </p:nvSpPr>
        <p:spPr>
          <a:xfrm>
            <a:off x="7035626" y="383921"/>
            <a:ext cx="111706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Open Sans" panose="020B0606030504020204" pitchFamily="34" charset="0"/>
                <a:cs typeface="Poppins" pitchFamily="2" charset="77"/>
              </a:rPr>
              <a:t>Compression of Current SIP Vs New SIP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E02DE2-3D4E-AB4F-AD76-ED2A65FC1FA6}"/>
              </a:ext>
            </a:extLst>
          </p:cNvPr>
          <p:cNvSpPr txBox="1"/>
          <p:nvPr/>
        </p:nvSpPr>
        <p:spPr>
          <a:xfrm>
            <a:off x="17299809" y="2585887"/>
            <a:ext cx="3332964" cy="1015663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NEW SIP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0BF015-35C8-8D41-AE91-3C4E99EB711A}"/>
              </a:ext>
            </a:extLst>
          </p:cNvPr>
          <p:cNvSpPr txBox="1"/>
          <p:nvPr/>
        </p:nvSpPr>
        <p:spPr>
          <a:xfrm>
            <a:off x="2761418" y="2510117"/>
            <a:ext cx="5051383" cy="1015663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6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CURRENT SIP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B4E823-816B-614B-A963-E542A219B227}"/>
              </a:ext>
            </a:extLst>
          </p:cNvPr>
          <p:cNvSpPr txBox="1"/>
          <p:nvPr/>
        </p:nvSpPr>
        <p:spPr>
          <a:xfrm>
            <a:off x="11337469" y="3002216"/>
            <a:ext cx="17027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972" y="5604915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Individual Perf.+Store Perf.+Mystery Shopp.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870" y="6955381"/>
            <a:ext cx="77932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tx2"/>
                </a:solidFill>
              </a:rPr>
              <a:t>Teleco</a:t>
            </a:r>
            <a:r>
              <a:rPr lang="en-US" sz="3200" dirty="0">
                <a:solidFill>
                  <a:schemeClr val="tx2"/>
                </a:solidFill>
              </a:rPr>
              <a:t> employee </a:t>
            </a:r>
            <a:r>
              <a:rPr lang="en-US" sz="3200" b="1" dirty="0">
                <a:solidFill>
                  <a:schemeClr val="tx2"/>
                </a:solidFill>
              </a:rPr>
              <a:t>“Cash”</a:t>
            </a:r>
          </a:p>
          <a:p>
            <a:pPr algn="ctr"/>
            <a:r>
              <a:rPr lang="en-US" sz="3200" dirty="0">
                <a:solidFill>
                  <a:schemeClr val="tx2"/>
                </a:solidFill>
              </a:rPr>
              <a:t> Promoters </a:t>
            </a:r>
            <a:r>
              <a:rPr lang="en-US" sz="3200" b="1" dirty="0">
                <a:solidFill>
                  <a:schemeClr val="tx2"/>
                </a:solidFill>
              </a:rPr>
              <a:t>“Vouchers”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9535" y="8730244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Mystery Shopping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259" y="10285129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Basic Salary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0164" y="11655385"/>
            <a:ext cx="7422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Convert the sales &amp; target to revenue based on ARPU and pay them based on </a:t>
            </a:r>
            <a:r>
              <a:rPr lang="en-US" sz="3200" b="1" dirty="0">
                <a:solidFill>
                  <a:schemeClr val="tx2"/>
                </a:solidFill>
              </a:rPr>
              <a:t>overall achievement </a:t>
            </a:r>
            <a:r>
              <a:rPr lang="en-US" sz="3200" dirty="0">
                <a:solidFill>
                  <a:schemeClr val="tx2"/>
                </a:solidFill>
              </a:rPr>
              <a:t>of 50%</a:t>
            </a:r>
            <a:r>
              <a:rPr lang="ar-OM" sz="3200" dirty="0">
                <a:solidFill>
                  <a:schemeClr val="tx2"/>
                </a:solidFill>
              </a:rPr>
              <a:t>&lt;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781977" y="5597738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Individual Performance + VOC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811611" y="7142004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“Cash”</a:t>
            </a:r>
            <a:r>
              <a:rPr lang="en-US" sz="3200" dirty="0">
                <a:solidFill>
                  <a:schemeClr val="tx2"/>
                </a:solidFill>
              </a:rPr>
              <a:t> (For all employee)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877342" y="8741534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Voice of Customer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781976" y="10315158"/>
            <a:ext cx="7793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Product Package &amp; Value of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974053" y="11881096"/>
            <a:ext cx="779329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Paid on point gain by rate plan &amp; 75% achieving </a:t>
            </a:r>
            <a:r>
              <a:rPr lang="en-US" b="1" dirty="0">
                <a:solidFill>
                  <a:schemeClr val="tx2"/>
                </a:solidFill>
              </a:rPr>
              <a:t>in each products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6F26E66-1D3D-F741-9F4F-AABEA3FA7672}"/>
              </a:ext>
            </a:extLst>
          </p:cNvPr>
          <p:cNvGrpSpPr/>
          <p:nvPr/>
        </p:nvGrpSpPr>
        <p:grpSpPr>
          <a:xfrm>
            <a:off x="18206313" y="3511412"/>
            <a:ext cx="1421267" cy="1549905"/>
            <a:chOff x="4427538" y="1254125"/>
            <a:chExt cx="292100" cy="295275"/>
          </a:xfrm>
          <a:solidFill>
            <a:schemeClr val="bg1">
              <a:lumMod val="65000"/>
            </a:schemeClr>
          </a:solidFill>
        </p:grpSpPr>
        <p:sp>
          <p:nvSpPr>
            <p:cNvPr id="72" name="Freeform 211">
              <a:extLst>
                <a:ext uri="{FF2B5EF4-FFF2-40B4-BE49-F238E27FC236}">
                  <a16:creationId xmlns:a16="http://schemas.microsoft.com/office/drawing/2014/main" id="{C9D3925D-CFFD-8B4E-B307-4096355F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988" y="1287463"/>
              <a:ext cx="33338" cy="33338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2" y="7"/>
                </a:cxn>
                <a:cxn ang="0">
                  <a:pos x="7" y="12"/>
                </a:cxn>
                <a:cxn ang="0">
                  <a:pos x="12" y="12"/>
                </a:cxn>
                <a:cxn ang="0">
                  <a:pos x="12" y="7"/>
                </a:cxn>
              </a:cxnLst>
              <a:rect l="0" t="0" r="r" b="b"/>
              <a:pathLst>
                <a:path w="13" h="13">
                  <a:moveTo>
                    <a:pt x="12" y="7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10" y="13"/>
                    <a:pt x="12" y="12"/>
                  </a:cubicBezTo>
                  <a:cubicBezTo>
                    <a:pt x="13" y="11"/>
                    <a:pt x="13" y="8"/>
                    <a:pt x="12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3" name="Freeform 212">
              <a:extLst>
                <a:ext uri="{FF2B5EF4-FFF2-40B4-BE49-F238E27FC236}">
                  <a16:creationId xmlns:a16="http://schemas.microsoft.com/office/drawing/2014/main" id="{F345D3B8-E912-FB4D-B414-28BE3F98D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1382713"/>
              <a:ext cx="34925" cy="1905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11" y="7"/>
                </a:cxn>
                <a:cxn ang="0">
                  <a:pos x="14" y="4"/>
                </a:cxn>
                <a:cxn ang="0">
                  <a:pos x="11" y="0"/>
                </a:cxn>
              </a:cxnLst>
              <a:rect l="0" t="0" r="r" b="b"/>
              <a:pathLst>
                <a:path w="14" h="7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4" y="6"/>
                    <a:pt x="14" y="4"/>
                  </a:cubicBezTo>
                  <a:cubicBezTo>
                    <a:pt x="14" y="2"/>
                    <a:pt x="13" y="0"/>
                    <a:pt x="1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4" name="Freeform 213">
              <a:extLst>
                <a:ext uri="{FF2B5EF4-FFF2-40B4-BE49-F238E27FC236}">
                  <a16:creationId xmlns:a16="http://schemas.microsoft.com/office/drawing/2014/main" id="{17B5B824-E12F-6842-A7B5-790093055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713" y="1401763"/>
              <a:ext cx="34925" cy="1905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4" y="4"/>
                </a:cxn>
                <a:cxn ang="0">
                  <a:pos x="10" y="0"/>
                </a:cxn>
              </a:cxnLst>
              <a:rect l="0" t="0" r="r" b="b"/>
              <a:pathLst>
                <a:path w="14" h="8">
                  <a:moveTo>
                    <a:pt x="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2" y="8"/>
                    <a:pt x="14" y="6"/>
                    <a:pt x="14" y="4"/>
                  </a:cubicBezTo>
                  <a:cubicBezTo>
                    <a:pt x="14" y="2"/>
                    <a:pt x="12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5" name="Freeform 214">
              <a:extLst>
                <a:ext uri="{FF2B5EF4-FFF2-40B4-BE49-F238E27FC236}">
                  <a16:creationId xmlns:a16="http://schemas.microsoft.com/office/drawing/2014/main" id="{A0CCA8DB-7C03-064F-9EBD-D24E66ABB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551" y="1303338"/>
              <a:ext cx="31750" cy="31750"/>
            </a:xfrm>
            <a:custGeom>
              <a:avLst/>
              <a:gdLst/>
              <a:ahLst/>
              <a:cxnLst>
                <a:cxn ang="0">
                  <a:pos x="12" y="1"/>
                </a:cxn>
                <a:cxn ang="0">
                  <a:pos x="6" y="1"/>
                </a:cxn>
                <a:cxn ang="0">
                  <a:pos x="1" y="6"/>
                </a:cxn>
                <a:cxn ang="0">
                  <a:pos x="1" y="11"/>
                </a:cxn>
                <a:cxn ang="0">
                  <a:pos x="6" y="11"/>
                </a:cxn>
                <a:cxn ang="0">
                  <a:pos x="12" y="6"/>
                </a:cxn>
                <a:cxn ang="0">
                  <a:pos x="12" y="1"/>
                </a:cxn>
              </a:cxnLst>
              <a:rect l="0" t="0" r="r" b="b"/>
              <a:pathLst>
                <a:path w="13" h="13">
                  <a:moveTo>
                    <a:pt x="12" y="1"/>
                  </a:moveTo>
                  <a:cubicBezTo>
                    <a:pt x="10" y="0"/>
                    <a:pt x="8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7"/>
                    <a:pt x="0" y="10"/>
                    <a:pt x="1" y="11"/>
                  </a:cubicBezTo>
                  <a:cubicBezTo>
                    <a:pt x="3" y="13"/>
                    <a:pt x="5" y="13"/>
                    <a:pt x="6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5"/>
                    <a:pt x="13" y="2"/>
                    <a:pt x="12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6" name="Freeform 215">
              <a:extLst>
                <a:ext uri="{FF2B5EF4-FFF2-40B4-BE49-F238E27FC236}">
                  <a16:creationId xmlns:a16="http://schemas.microsoft.com/office/drawing/2014/main" id="{E528B489-29CA-CD43-A65B-1E7C0CEE0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588" y="1254125"/>
              <a:ext cx="17463" cy="38100"/>
            </a:xfrm>
            <a:custGeom>
              <a:avLst/>
              <a:gdLst/>
              <a:ahLst/>
              <a:cxnLst>
                <a:cxn ang="0">
                  <a:pos x="4" y="15"/>
                </a:cxn>
                <a:cxn ang="0">
                  <a:pos x="6" y="14"/>
                </a:cxn>
                <a:cxn ang="0">
                  <a:pos x="7" y="11"/>
                </a:cxn>
                <a:cxn ang="0">
                  <a:pos x="7" y="4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11"/>
                </a:cxn>
                <a:cxn ang="0">
                  <a:pos x="4" y="15"/>
                </a:cxn>
              </a:cxnLst>
              <a:rect l="0" t="0" r="r" b="b"/>
              <a:pathLst>
                <a:path w="7" h="15">
                  <a:moveTo>
                    <a:pt x="4" y="15"/>
                  </a:moveTo>
                  <a:cubicBezTo>
                    <a:pt x="5" y="15"/>
                    <a:pt x="6" y="14"/>
                    <a:pt x="6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7" name="Freeform 216">
              <a:extLst>
                <a:ext uri="{FF2B5EF4-FFF2-40B4-BE49-F238E27FC236}">
                  <a16:creationId xmlns:a16="http://schemas.microsoft.com/office/drawing/2014/main" id="{69BC0E74-B1BF-CE4E-9E09-30AAEE03F9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0563" y="1327150"/>
              <a:ext cx="146050" cy="16668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0" y="29"/>
                </a:cxn>
                <a:cxn ang="0">
                  <a:pos x="14" y="54"/>
                </a:cxn>
                <a:cxn ang="0">
                  <a:pos x="14" y="66"/>
                </a:cxn>
                <a:cxn ang="0">
                  <a:pos x="44" y="66"/>
                </a:cxn>
                <a:cxn ang="0">
                  <a:pos x="44" y="54"/>
                </a:cxn>
                <a:cxn ang="0">
                  <a:pos x="58" y="29"/>
                </a:cxn>
                <a:cxn ang="0">
                  <a:pos x="29" y="0"/>
                </a:cxn>
                <a:cxn ang="0">
                  <a:pos x="40" y="48"/>
                </a:cxn>
                <a:cxn ang="0">
                  <a:pos x="36" y="50"/>
                </a:cxn>
                <a:cxn ang="0">
                  <a:pos x="36" y="54"/>
                </a:cxn>
                <a:cxn ang="0">
                  <a:pos x="36" y="58"/>
                </a:cxn>
                <a:cxn ang="0">
                  <a:pos x="22" y="58"/>
                </a:cxn>
                <a:cxn ang="0">
                  <a:pos x="22" y="54"/>
                </a:cxn>
                <a:cxn ang="0">
                  <a:pos x="22" y="50"/>
                </a:cxn>
                <a:cxn ang="0">
                  <a:pos x="18" y="48"/>
                </a:cxn>
                <a:cxn ang="0">
                  <a:pos x="7" y="29"/>
                </a:cxn>
                <a:cxn ang="0">
                  <a:pos x="29" y="8"/>
                </a:cxn>
                <a:cxn ang="0">
                  <a:pos x="51" y="29"/>
                </a:cxn>
                <a:cxn ang="0">
                  <a:pos x="40" y="48"/>
                </a:cxn>
              </a:cxnLst>
              <a:rect l="0" t="0" r="r" b="b"/>
              <a:pathLst>
                <a:path w="58" h="66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0"/>
                    <a:pt x="6" y="49"/>
                    <a:pt x="14" y="54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2" y="49"/>
                    <a:pt x="58" y="40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40" y="48"/>
                  </a:moveTo>
                  <a:cubicBezTo>
                    <a:pt x="36" y="50"/>
                    <a:pt x="36" y="50"/>
                    <a:pt x="36" y="5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1" y="44"/>
                    <a:pt x="7" y="37"/>
                    <a:pt x="7" y="29"/>
                  </a:cubicBezTo>
                  <a:cubicBezTo>
                    <a:pt x="7" y="17"/>
                    <a:pt x="17" y="8"/>
                    <a:pt x="29" y="8"/>
                  </a:cubicBezTo>
                  <a:cubicBezTo>
                    <a:pt x="41" y="8"/>
                    <a:pt x="51" y="17"/>
                    <a:pt x="51" y="29"/>
                  </a:cubicBezTo>
                  <a:cubicBezTo>
                    <a:pt x="51" y="37"/>
                    <a:pt x="47" y="44"/>
                    <a:pt x="40" y="4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8" name="Freeform 217">
              <a:extLst>
                <a:ext uri="{FF2B5EF4-FFF2-40B4-BE49-F238E27FC236}">
                  <a16:creationId xmlns:a16="http://schemas.microsoft.com/office/drawing/2014/main" id="{E7AD69E7-FB99-804B-94C2-2E5F842C9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488" y="1511300"/>
              <a:ext cx="76200" cy="3810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15" y="15"/>
                </a:cxn>
                <a:cxn ang="0">
                  <a:pos x="22" y="8"/>
                </a:cxn>
                <a:cxn ang="0">
                  <a:pos x="22" y="7"/>
                </a:cxn>
                <a:cxn ang="0">
                  <a:pos x="30" y="7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7"/>
                </a:cxn>
              </a:cxnLst>
              <a:rect l="0" t="0" r="r" b="b"/>
              <a:pathLst>
                <a:path w="30" h="15">
                  <a:moveTo>
                    <a:pt x="0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11" y="15"/>
                    <a:pt x="15" y="15"/>
                  </a:cubicBezTo>
                  <a:cubicBezTo>
                    <a:pt x="19" y="15"/>
                    <a:pt x="22" y="12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DCC197A-EC49-BC49-8F71-312FF58F7E06}"/>
              </a:ext>
            </a:extLst>
          </p:cNvPr>
          <p:cNvGrpSpPr/>
          <p:nvPr/>
        </p:nvGrpSpPr>
        <p:grpSpPr>
          <a:xfrm>
            <a:off x="4598657" y="3724906"/>
            <a:ext cx="1092825" cy="1224067"/>
            <a:chOff x="3841751" y="1843088"/>
            <a:chExt cx="255588" cy="292100"/>
          </a:xfrm>
          <a:solidFill>
            <a:schemeClr val="bg1">
              <a:lumMod val="65000"/>
            </a:schemeClr>
          </a:solidFill>
        </p:grpSpPr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1A3D97F2-DEB6-F04C-9B46-BD4E92FE1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1751" y="1843088"/>
              <a:ext cx="255588" cy="292100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0" y="0"/>
                </a:cxn>
                <a:cxn ang="0">
                  <a:pos x="0" y="184"/>
                </a:cxn>
                <a:cxn ang="0">
                  <a:pos x="161" y="184"/>
                </a:cxn>
                <a:cxn ang="0">
                  <a:pos x="161" y="52"/>
                </a:cxn>
                <a:cxn ang="0">
                  <a:pos x="108" y="0"/>
                </a:cxn>
                <a:cxn ang="0">
                  <a:pos x="138" y="160"/>
                </a:cxn>
                <a:cxn ang="0">
                  <a:pos x="23" y="160"/>
                </a:cxn>
                <a:cxn ang="0">
                  <a:pos x="23" y="22"/>
                </a:cxn>
                <a:cxn ang="0">
                  <a:pos x="99" y="22"/>
                </a:cxn>
                <a:cxn ang="0">
                  <a:pos x="138" y="62"/>
                </a:cxn>
                <a:cxn ang="0">
                  <a:pos x="138" y="160"/>
                </a:cxn>
              </a:cxnLst>
              <a:rect l="0" t="0" r="r" b="b"/>
              <a:pathLst>
                <a:path w="161" h="184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3" y="160"/>
                  </a:lnTo>
                  <a:lnTo>
                    <a:pt x="23" y="22"/>
                  </a:lnTo>
                  <a:lnTo>
                    <a:pt x="99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F00637F1-6E31-E84A-9BFC-4B1C00530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726" y="1973263"/>
              <a:ext cx="146050" cy="98425"/>
            </a:xfrm>
            <a:custGeom>
              <a:avLst/>
              <a:gdLst/>
              <a:ahLst/>
              <a:cxnLst>
                <a:cxn ang="0">
                  <a:pos x="35" y="11"/>
                </a:cxn>
                <a:cxn ang="0">
                  <a:pos x="0" y="46"/>
                </a:cxn>
                <a:cxn ang="0">
                  <a:pos x="0" y="62"/>
                </a:cxn>
                <a:cxn ang="0">
                  <a:pos x="35" y="27"/>
                </a:cxn>
                <a:cxn ang="0">
                  <a:pos x="58" y="51"/>
                </a:cxn>
                <a:cxn ang="0">
                  <a:pos x="92" y="16"/>
                </a:cxn>
                <a:cxn ang="0">
                  <a:pos x="92" y="0"/>
                </a:cxn>
                <a:cxn ang="0">
                  <a:pos x="58" y="35"/>
                </a:cxn>
                <a:cxn ang="0">
                  <a:pos x="35" y="11"/>
                </a:cxn>
              </a:cxnLst>
              <a:rect l="0" t="0" r="r" b="b"/>
              <a:pathLst>
                <a:path w="92" h="62">
                  <a:moveTo>
                    <a:pt x="35" y="11"/>
                  </a:moveTo>
                  <a:lnTo>
                    <a:pt x="0" y="46"/>
                  </a:lnTo>
                  <a:lnTo>
                    <a:pt x="0" y="62"/>
                  </a:lnTo>
                  <a:lnTo>
                    <a:pt x="35" y="27"/>
                  </a:lnTo>
                  <a:lnTo>
                    <a:pt x="58" y="51"/>
                  </a:lnTo>
                  <a:lnTo>
                    <a:pt x="92" y="16"/>
                  </a:lnTo>
                  <a:lnTo>
                    <a:pt x="92" y="0"/>
                  </a:lnTo>
                  <a:lnTo>
                    <a:pt x="58" y="35"/>
                  </a:lnTo>
                  <a:lnTo>
                    <a:pt x="35" y="1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588221" y="1795714"/>
            <a:ext cx="23271904" cy="0"/>
          </a:xfrm>
          <a:prstGeom prst="line">
            <a:avLst/>
          </a:prstGeom>
          <a:ln w="6350" cmpd="dbl">
            <a:solidFill>
              <a:srgbClr val="659F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22101532" y="612371"/>
            <a:ext cx="1053490" cy="10156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39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FE252-6EF3-BE4F-BE3F-54DCA4F02CA8}"/>
              </a:ext>
            </a:extLst>
          </p:cNvPr>
          <p:cNvSpPr txBox="1"/>
          <p:nvPr/>
        </p:nvSpPr>
        <p:spPr>
          <a:xfrm>
            <a:off x="8520087" y="443874"/>
            <a:ext cx="6577442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defRPr sz="6000" b="1">
                <a:solidFill>
                  <a:schemeClr val="tx2"/>
                </a:solidFill>
                <a:latin typeface="Open Sans" panose="020B0606030504020204" pitchFamily="34" charset="0"/>
                <a:cs typeface="Poppins" pitchFamily="2" charset="77"/>
              </a:defRPr>
            </a:lvl1pPr>
          </a:lstStyle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</a:rPr>
              <a:t>TERMS &amp; CONDITIONS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DE74BC18-4190-B648-8624-4960A9111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3283033"/>
            <a:ext cx="6238351" cy="3174089"/>
          </a:xfrm>
          <a:custGeom>
            <a:avLst/>
            <a:gdLst>
              <a:gd name="T0" fmla="*/ 4545 w 5010"/>
              <a:gd name="T1" fmla="*/ 742 h 2548"/>
              <a:gd name="T2" fmla="*/ 2262 w 5010"/>
              <a:gd name="T3" fmla="*/ 0 h 2548"/>
              <a:gd name="T4" fmla="*/ 0 w 5010"/>
              <a:gd name="T5" fmla="*/ 0 h 2548"/>
              <a:gd name="T6" fmla="*/ 0 w 5010"/>
              <a:gd name="T7" fmla="*/ 1993 h 2548"/>
              <a:gd name="T8" fmla="*/ 2262 w 5010"/>
              <a:gd name="T9" fmla="*/ 1993 h 2548"/>
              <a:gd name="T10" fmla="*/ 3374 w 5010"/>
              <a:gd name="T11" fmla="*/ 2354 h 2548"/>
              <a:gd name="T12" fmla="*/ 3600 w 5010"/>
              <a:gd name="T13" fmla="*/ 2547 h 2548"/>
              <a:gd name="T14" fmla="*/ 5009 w 5010"/>
              <a:gd name="T15" fmla="*/ 1138 h 2548"/>
              <a:gd name="T16" fmla="*/ 4545 w 5010"/>
              <a:gd name="T17" fmla="*/ 742 h 2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10" h="2548">
                <a:moveTo>
                  <a:pt x="4545" y="742"/>
                </a:moveTo>
                <a:cubicBezTo>
                  <a:pt x="3905" y="276"/>
                  <a:pt x="3116" y="0"/>
                  <a:pt x="2262" y="0"/>
                </a:cubicBezTo>
                <a:lnTo>
                  <a:pt x="0" y="0"/>
                </a:lnTo>
                <a:lnTo>
                  <a:pt x="0" y="1993"/>
                </a:lnTo>
                <a:lnTo>
                  <a:pt x="2262" y="1993"/>
                </a:lnTo>
                <a:cubicBezTo>
                  <a:pt x="2678" y="1993"/>
                  <a:pt x="3062" y="2127"/>
                  <a:pt x="3374" y="2354"/>
                </a:cubicBezTo>
                <a:cubicBezTo>
                  <a:pt x="3454" y="2412"/>
                  <a:pt x="3530" y="2477"/>
                  <a:pt x="3600" y="2547"/>
                </a:cubicBezTo>
                <a:lnTo>
                  <a:pt x="5009" y="1138"/>
                </a:lnTo>
                <a:cubicBezTo>
                  <a:pt x="4865" y="994"/>
                  <a:pt x="4710" y="861"/>
                  <a:pt x="4545" y="74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01C5178-292C-AA47-A0AA-578C1F4E1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784974"/>
            <a:ext cx="6238351" cy="3174089"/>
          </a:xfrm>
          <a:custGeom>
            <a:avLst/>
            <a:gdLst>
              <a:gd name="T0" fmla="*/ 3600 w 5010"/>
              <a:gd name="T1" fmla="*/ 0 h 2548"/>
              <a:gd name="T2" fmla="*/ 3374 w 5010"/>
              <a:gd name="T3" fmla="*/ 193 h 2548"/>
              <a:gd name="T4" fmla="*/ 2262 w 5010"/>
              <a:gd name="T5" fmla="*/ 554 h 2548"/>
              <a:gd name="T6" fmla="*/ 0 w 5010"/>
              <a:gd name="T7" fmla="*/ 554 h 2548"/>
              <a:gd name="T8" fmla="*/ 0 w 5010"/>
              <a:gd name="T9" fmla="*/ 2547 h 2548"/>
              <a:gd name="T10" fmla="*/ 2262 w 5010"/>
              <a:gd name="T11" fmla="*/ 2547 h 2548"/>
              <a:gd name="T12" fmla="*/ 4545 w 5010"/>
              <a:gd name="T13" fmla="*/ 1806 h 2548"/>
              <a:gd name="T14" fmla="*/ 5009 w 5010"/>
              <a:gd name="T15" fmla="*/ 1409 h 2548"/>
              <a:gd name="T16" fmla="*/ 3600 w 5010"/>
              <a:gd name="T17" fmla="*/ 0 h 2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10" h="2548">
                <a:moveTo>
                  <a:pt x="3600" y="0"/>
                </a:moveTo>
                <a:cubicBezTo>
                  <a:pt x="3530" y="71"/>
                  <a:pt x="3454" y="135"/>
                  <a:pt x="3374" y="193"/>
                </a:cubicBezTo>
                <a:cubicBezTo>
                  <a:pt x="3062" y="420"/>
                  <a:pt x="2678" y="554"/>
                  <a:pt x="2262" y="554"/>
                </a:cubicBezTo>
                <a:lnTo>
                  <a:pt x="0" y="554"/>
                </a:lnTo>
                <a:lnTo>
                  <a:pt x="0" y="2547"/>
                </a:lnTo>
                <a:lnTo>
                  <a:pt x="2262" y="2547"/>
                </a:lnTo>
                <a:cubicBezTo>
                  <a:pt x="3116" y="2547"/>
                  <a:pt x="3905" y="2272"/>
                  <a:pt x="4545" y="1806"/>
                </a:cubicBezTo>
                <a:cubicBezTo>
                  <a:pt x="4710" y="1686"/>
                  <a:pt x="4865" y="1553"/>
                  <a:pt x="5009" y="1409"/>
                </a:cubicBezTo>
                <a:lnTo>
                  <a:pt x="3600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78">
            <a:extLst>
              <a:ext uri="{FF2B5EF4-FFF2-40B4-BE49-F238E27FC236}">
                <a16:creationId xmlns:a16="http://schemas.microsoft.com/office/drawing/2014/main" id="{473E31D0-B9EC-4442-873B-4E1748EE9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245" y="8121047"/>
            <a:ext cx="3174091" cy="3421209"/>
          </a:xfrm>
          <a:custGeom>
            <a:avLst/>
            <a:gdLst>
              <a:gd name="T0" fmla="*/ 461 w 2547"/>
              <a:gd name="T1" fmla="*/ 585 h 2747"/>
              <a:gd name="T2" fmla="*/ 0 w 2547"/>
              <a:gd name="T3" fmla="*/ 1337 h 2747"/>
              <a:gd name="T4" fmla="*/ 1409 w 2547"/>
              <a:gd name="T5" fmla="*/ 2746 h 2747"/>
              <a:gd name="T6" fmla="*/ 2357 w 2547"/>
              <a:gd name="T7" fmla="*/ 1201 h 2747"/>
              <a:gd name="T8" fmla="*/ 2546 w 2547"/>
              <a:gd name="T9" fmla="*/ 0 h 2747"/>
              <a:gd name="T10" fmla="*/ 554 w 2547"/>
              <a:gd name="T11" fmla="*/ 0 h 2747"/>
              <a:gd name="T12" fmla="*/ 461 w 2547"/>
              <a:gd name="T13" fmla="*/ 585 h 2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7" h="2747">
                <a:moveTo>
                  <a:pt x="461" y="585"/>
                </a:moveTo>
                <a:cubicBezTo>
                  <a:pt x="369" y="872"/>
                  <a:pt x="208" y="1129"/>
                  <a:pt x="0" y="1337"/>
                </a:cubicBezTo>
                <a:lnTo>
                  <a:pt x="1409" y="2746"/>
                </a:lnTo>
                <a:cubicBezTo>
                  <a:pt x="1837" y="2318"/>
                  <a:pt x="2166" y="1791"/>
                  <a:pt x="2357" y="1201"/>
                </a:cubicBezTo>
                <a:cubicBezTo>
                  <a:pt x="2480" y="822"/>
                  <a:pt x="2546" y="419"/>
                  <a:pt x="2546" y="0"/>
                </a:cubicBezTo>
                <a:lnTo>
                  <a:pt x="554" y="0"/>
                </a:lnTo>
                <a:cubicBezTo>
                  <a:pt x="554" y="204"/>
                  <a:pt x="521" y="400"/>
                  <a:pt x="461" y="585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79">
            <a:extLst>
              <a:ext uri="{FF2B5EF4-FFF2-40B4-BE49-F238E27FC236}">
                <a16:creationId xmlns:a16="http://schemas.microsoft.com/office/drawing/2014/main" id="{11564133-1A0A-A94A-A398-A831A424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245" y="4699841"/>
            <a:ext cx="3174091" cy="3421207"/>
          </a:xfrm>
          <a:custGeom>
            <a:avLst/>
            <a:gdLst>
              <a:gd name="T0" fmla="*/ 1409 w 2547"/>
              <a:gd name="T1" fmla="*/ 0 h 2747"/>
              <a:gd name="T2" fmla="*/ 0 w 2547"/>
              <a:gd name="T3" fmla="*/ 1409 h 2747"/>
              <a:gd name="T4" fmla="*/ 461 w 2547"/>
              <a:gd name="T5" fmla="*/ 2162 h 2747"/>
              <a:gd name="T6" fmla="*/ 554 w 2547"/>
              <a:gd name="T7" fmla="*/ 2746 h 2747"/>
              <a:gd name="T8" fmla="*/ 2546 w 2547"/>
              <a:gd name="T9" fmla="*/ 2746 h 2747"/>
              <a:gd name="T10" fmla="*/ 2357 w 2547"/>
              <a:gd name="T11" fmla="*/ 1545 h 2747"/>
              <a:gd name="T12" fmla="*/ 1409 w 2547"/>
              <a:gd name="T13" fmla="*/ 0 h 2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7" h="2747">
                <a:moveTo>
                  <a:pt x="1409" y="0"/>
                </a:moveTo>
                <a:lnTo>
                  <a:pt x="0" y="1409"/>
                </a:lnTo>
                <a:cubicBezTo>
                  <a:pt x="208" y="1618"/>
                  <a:pt x="369" y="1874"/>
                  <a:pt x="461" y="2162"/>
                </a:cubicBezTo>
                <a:cubicBezTo>
                  <a:pt x="521" y="2346"/>
                  <a:pt x="554" y="2542"/>
                  <a:pt x="554" y="2746"/>
                </a:cubicBezTo>
                <a:lnTo>
                  <a:pt x="2546" y="2746"/>
                </a:lnTo>
                <a:cubicBezTo>
                  <a:pt x="2546" y="2327"/>
                  <a:pt x="2480" y="1924"/>
                  <a:pt x="2357" y="1545"/>
                </a:cubicBezTo>
                <a:cubicBezTo>
                  <a:pt x="2166" y="956"/>
                  <a:pt x="1837" y="428"/>
                  <a:pt x="1409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80">
            <a:extLst>
              <a:ext uri="{FF2B5EF4-FFF2-40B4-BE49-F238E27FC236}">
                <a16:creationId xmlns:a16="http://schemas.microsoft.com/office/drawing/2014/main" id="{933D009D-14B1-284B-B324-2646502C7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895" y="9254915"/>
            <a:ext cx="3970358" cy="38442"/>
          </a:xfrm>
          <a:custGeom>
            <a:avLst/>
            <a:gdLst>
              <a:gd name="T0" fmla="*/ 0 w 3190"/>
              <a:gd name="T1" fmla="*/ 31 h 32"/>
              <a:gd name="T2" fmla="*/ 9 w 3190"/>
              <a:gd name="T3" fmla="*/ 0 h 32"/>
              <a:gd name="T4" fmla="*/ 254 w 3190"/>
              <a:gd name="T5" fmla="*/ 31 h 32"/>
              <a:gd name="T6" fmla="*/ 131 w 3190"/>
              <a:gd name="T7" fmla="*/ 0 h 32"/>
              <a:gd name="T8" fmla="*/ 254 w 3190"/>
              <a:gd name="T9" fmla="*/ 31 h 32"/>
              <a:gd name="T10" fmla="*/ 376 w 3190"/>
              <a:gd name="T11" fmla="*/ 31 h 32"/>
              <a:gd name="T12" fmla="*/ 498 w 3190"/>
              <a:gd name="T13" fmla="*/ 0 h 32"/>
              <a:gd name="T14" fmla="*/ 743 w 3190"/>
              <a:gd name="T15" fmla="*/ 31 h 32"/>
              <a:gd name="T16" fmla="*/ 621 w 3190"/>
              <a:gd name="T17" fmla="*/ 0 h 32"/>
              <a:gd name="T18" fmla="*/ 743 w 3190"/>
              <a:gd name="T19" fmla="*/ 31 h 32"/>
              <a:gd name="T20" fmla="*/ 865 w 3190"/>
              <a:gd name="T21" fmla="*/ 31 h 32"/>
              <a:gd name="T22" fmla="*/ 988 w 3190"/>
              <a:gd name="T23" fmla="*/ 0 h 32"/>
              <a:gd name="T24" fmla="*/ 1232 w 3190"/>
              <a:gd name="T25" fmla="*/ 31 h 32"/>
              <a:gd name="T26" fmla="*/ 1110 w 3190"/>
              <a:gd name="T27" fmla="*/ 0 h 32"/>
              <a:gd name="T28" fmla="*/ 1232 w 3190"/>
              <a:gd name="T29" fmla="*/ 31 h 32"/>
              <a:gd name="T30" fmla="*/ 1355 w 3190"/>
              <a:gd name="T31" fmla="*/ 31 h 32"/>
              <a:gd name="T32" fmla="*/ 1477 w 3190"/>
              <a:gd name="T33" fmla="*/ 0 h 32"/>
              <a:gd name="T34" fmla="*/ 1722 w 3190"/>
              <a:gd name="T35" fmla="*/ 31 h 32"/>
              <a:gd name="T36" fmla="*/ 1599 w 3190"/>
              <a:gd name="T37" fmla="*/ 0 h 32"/>
              <a:gd name="T38" fmla="*/ 1722 w 3190"/>
              <a:gd name="T39" fmla="*/ 31 h 32"/>
              <a:gd name="T40" fmla="*/ 1844 w 3190"/>
              <a:gd name="T41" fmla="*/ 31 h 32"/>
              <a:gd name="T42" fmla="*/ 1966 w 3190"/>
              <a:gd name="T43" fmla="*/ 0 h 32"/>
              <a:gd name="T44" fmla="*/ 2211 w 3190"/>
              <a:gd name="T45" fmla="*/ 31 h 32"/>
              <a:gd name="T46" fmla="*/ 2089 w 3190"/>
              <a:gd name="T47" fmla="*/ 0 h 32"/>
              <a:gd name="T48" fmla="*/ 2211 w 3190"/>
              <a:gd name="T49" fmla="*/ 31 h 32"/>
              <a:gd name="T50" fmla="*/ 2333 w 3190"/>
              <a:gd name="T51" fmla="*/ 31 h 32"/>
              <a:gd name="T52" fmla="*/ 2456 w 3190"/>
              <a:gd name="T53" fmla="*/ 0 h 32"/>
              <a:gd name="T54" fmla="*/ 2700 w 3190"/>
              <a:gd name="T55" fmla="*/ 31 h 32"/>
              <a:gd name="T56" fmla="*/ 2578 w 3190"/>
              <a:gd name="T57" fmla="*/ 0 h 32"/>
              <a:gd name="T58" fmla="*/ 2700 w 3190"/>
              <a:gd name="T59" fmla="*/ 31 h 32"/>
              <a:gd name="T60" fmla="*/ 2822 w 3190"/>
              <a:gd name="T61" fmla="*/ 31 h 32"/>
              <a:gd name="T62" fmla="*/ 2945 w 3190"/>
              <a:gd name="T63" fmla="*/ 0 h 32"/>
              <a:gd name="T64" fmla="*/ 3189 w 3190"/>
              <a:gd name="T65" fmla="*/ 31 h 32"/>
              <a:gd name="T66" fmla="*/ 3067 w 3190"/>
              <a:gd name="T67" fmla="*/ 0 h 32"/>
              <a:gd name="T68" fmla="*/ 3189 w 3190"/>
              <a:gd name="T69" fmla="*/ 31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190" h="32">
                <a:moveTo>
                  <a:pt x="9" y="31"/>
                </a:moveTo>
                <a:lnTo>
                  <a:pt x="0" y="31"/>
                </a:lnTo>
                <a:lnTo>
                  <a:pt x="0" y="0"/>
                </a:lnTo>
                <a:lnTo>
                  <a:pt x="9" y="0"/>
                </a:lnTo>
                <a:lnTo>
                  <a:pt x="9" y="31"/>
                </a:lnTo>
                <a:close/>
                <a:moveTo>
                  <a:pt x="254" y="31"/>
                </a:moveTo>
                <a:lnTo>
                  <a:pt x="131" y="31"/>
                </a:lnTo>
                <a:lnTo>
                  <a:pt x="131" y="0"/>
                </a:lnTo>
                <a:lnTo>
                  <a:pt x="254" y="0"/>
                </a:lnTo>
                <a:lnTo>
                  <a:pt x="254" y="31"/>
                </a:lnTo>
                <a:close/>
                <a:moveTo>
                  <a:pt x="498" y="31"/>
                </a:moveTo>
                <a:lnTo>
                  <a:pt x="376" y="31"/>
                </a:lnTo>
                <a:lnTo>
                  <a:pt x="376" y="0"/>
                </a:lnTo>
                <a:lnTo>
                  <a:pt x="498" y="0"/>
                </a:lnTo>
                <a:lnTo>
                  <a:pt x="498" y="31"/>
                </a:lnTo>
                <a:close/>
                <a:moveTo>
                  <a:pt x="743" y="31"/>
                </a:moveTo>
                <a:lnTo>
                  <a:pt x="621" y="31"/>
                </a:lnTo>
                <a:lnTo>
                  <a:pt x="621" y="0"/>
                </a:lnTo>
                <a:lnTo>
                  <a:pt x="743" y="0"/>
                </a:lnTo>
                <a:lnTo>
                  <a:pt x="743" y="31"/>
                </a:lnTo>
                <a:close/>
                <a:moveTo>
                  <a:pt x="988" y="31"/>
                </a:moveTo>
                <a:lnTo>
                  <a:pt x="865" y="31"/>
                </a:lnTo>
                <a:lnTo>
                  <a:pt x="865" y="0"/>
                </a:lnTo>
                <a:lnTo>
                  <a:pt x="988" y="0"/>
                </a:lnTo>
                <a:lnTo>
                  <a:pt x="988" y="31"/>
                </a:lnTo>
                <a:close/>
                <a:moveTo>
                  <a:pt x="1232" y="31"/>
                </a:moveTo>
                <a:lnTo>
                  <a:pt x="1110" y="31"/>
                </a:lnTo>
                <a:lnTo>
                  <a:pt x="1110" y="0"/>
                </a:lnTo>
                <a:lnTo>
                  <a:pt x="1232" y="0"/>
                </a:lnTo>
                <a:lnTo>
                  <a:pt x="1232" y="31"/>
                </a:lnTo>
                <a:close/>
                <a:moveTo>
                  <a:pt x="1477" y="31"/>
                </a:moveTo>
                <a:lnTo>
                  <a:pt x="1355" y="31"/>
                </a:lnTo>
                <a:lnTo>
                  <a:pt x="1355" y="0"/>
                </a:lnTo>
                <a:lnTo>
                  <a:pt x="1477" y="0"/>
                </a:lnTo>
                <a:lnTo>
                  <a:pt x="1477" y="31"/>
                </a:lnTo>
                <a:close/>
                <a:moveTo>
                  <a:pt x="1722" y="31"/>
                </a:moveTo>
                <a:lnTo>
                  <a:pt x="1599" y="31"/>
                </a:lnTo>
                <a:lnTo>
                  <a:pt x="1599" y="0"/>
                </a:lnTo>
                <a:lnTo>
                  <a:pt x="1722" y="0"/>
                </a:lnTo>
                <a:lnTo>
                  <a:pt x="1722" y="31"/>
                </a:lnTo>
                <a:close/>
                <a:moveTo>
                  <a:pt x="1966" y="31"/>
                </a:moveTo>
                <a:lnTo>
                  <a:pt x="1844" y="31"/>
                </a:lnTo>
                <a:lnTo>
                  <a:pt x="1844" y="0"/>
                </a:lnTo>
                <a:lnTo>
                  <a:pt x="1966" y="0"/>
                </a:lnTo>
                <a:lnTo>
                  <a:pt x="1966" y="31"/>
                </a:lnTo>
                <a:close/>
                <a:moveTo>
                  <a:pt x="2211" y="31"/>
                </a:moveTo>
                <a:lnTo>
                  <a:pt x="2089" y="31"/>
                </a:lnTo>
                <a:lnTo>
                  <a:pt x="2089" y="0"/>
                </a:lnTo>
                <a:lnTo>
                  <a:pt x="2211" y="0"/>
                </a:lnTo>
                <a:lnTo>
                  <a:pt x="2211" y="31"/>
                </a:lnTo>
                <a:close/>
                <a:moveTo>
                  <a:pt x="2456" y="31"/>
                </a:moveTo>
                <a:lnTo>
                  <a:pt x="2333" y="31"/>
                </a:lnTo>
                <a:lnTo>
                  <a:pt x="2333" y="0"/>
                </a:lnTo>
                <a:lnTo>
                  <a:pt x="2456" y="0"/>
                </a:lnTo>
                <a:lnTo>
                  <a:pt x="2456" y="31"/>
                </a:lnTo>
                <a:close/>
                <a:moveTo>
                  <a:pt x="2700" y="31"/>
                </a:moveTo>
                <a:lnTo>
                  <a:pt x="2578" y="31"/>
                </a:lnTo>
                <a:lnTo>
                  <a:pt x="2578" y="0"/>
                </a:lnTo>
                <a:lnTo>
                  <a:pt x="2700" y="0"/>
                </a:lnTo>
                <a:lnTo>
                  <a:pt x="2700" y="31"/>
                </a:lnTo>
                <a:close/>
                <a:moveTo>
                  <a:pt x="2945" y="31"/>
                </a:moveTo>
                <a:lnTo>
                  <a:pt x="2822" y="31"/>
                </a:lnTo>
                <a:lnTo>
                  <a:pt x="2822" y="0"/>
                </a:lnTo>
                <a:lnTo>
                  <a:pt x="2945" y="0"/>
                </a:lnTo>
                <a:lnTo>
                  <a:pt x="2945" y="31"/>
                </a:lnTo>
                <a:close/>
                <a:moveTo>
                  <a:pt x="3189" y="31"/>
                </a:moveTo>
                <a:lnTo>
                  <a:pt x="3067" y="31"/>
                </a:lnTo>
                <a:lnTo>
                  <a:pt x="3067" y="0"/>
                </a:lnTo>
                <a:lnTo>
                  <a:pt x="3189" y="0"/>
                </a:lnTo>
                <a:lnTo>
                  <a:pt x="3189" y="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81">
            <a:extLst>
              <a:ext uri="{FF2B5EF4-FFF2-40B4-BE49-F238E27FC236}">
                <a16:creationId xmlns:a16="http://schemas.microsoft.com/office/drawing/2014/main" id="{B89892F5-77F2-D14A-BF1D-08A39BD10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16" y="6374748"/>
            <a:ext cx="4113137" cy="38442"/>
          </a:xfrm>
          <a:custGeom>
            <a:avLst/>
            <a:gdLst>
              <a:gd name="T0" fmla="*/ 0 w 3303"/>
              <a:gd name="T1" fmla="*/ 30 h 31"/>
              <a:gd name="T2" fmla="*/ 122 w 3303"/>
              <a:gd name="T3" fmla="*/ 0 h 31"/>
              <a:gd name="T4" fmla="*/ 367 w 3303"/>
              <a:gd name="T5" fmla="*/ 30 h 31"/>
              <a:gd name="T6" fmla="*/ 244 w 3303"/>
              <a:gd name="T7" fmla="*/ 0 h 31"/>
              <a:gd name="T8" fmla="*/ 367 w 3303"/>
              <a:gd name="T9" fmla="*/ 30 h 31"/>
              <a:gd name="T10" fmla="*/ 489 w 3303"/>
              <a:gd name="T11" fmla="*/ 30 h 31"/>
              <a:gd name="T12" fmla="*/ 611 w 3303"/>
              <a:gd name="T13" fmla="*/ 0 h 31"/>
              <a:gd name="T14" fmla="*/ 856 w 3303"/>
              <a:gd name="T15" fmla="*/ 30 h 31"/>
              <a:gd name="T16" fmla="*/ 734 w 3303"/>
              <a:gd name="T17" fmla="*/ 0 h 31"/>
              <a:gd name="T18" fmla="*/ 856 w 3303"/>
              <a:gd name="T19" fmla="*/ 30 h 31"/>
              <a:gd name="T20" fmla="*/ 978 w 3303"/>
              <a:gd name="T21" fmla="*/ 30 h 31"/>
              <a:gd name="T22" fmla="*/ 1101 w 3303"/>
              <a:gd name="T23" fmla="*/ 0 h 31"/>
              <a:gd name="T24" fmla="*/ 1345 w 3303"/>
              <a:gd name="T25" fmla="*/ 30 h 31"/>
              <a:gd name="T26" fmla="*/ 1223 w 3303"/>
              <a:gd name="T27" fmla="*/ 0 h 31"/>
              <a:gd name="T28" fmla="*/ 1345 w 3303"/>
              <a:gd name="T29" fmla="*/ 30 h 31"/>
              <a:gd name="T30" fmla="*/ 1468 w 3303"/>
              <a:gd name="T31" fmla="*/ 30 h 31"/>
              <a:gd name="T32" fmla="*/ 1590 w 3303"/>
              <a:gd name="T33" fmla="*/ 0 h 31"/>
              <a:gd name="T34" fmla="*/ 1835 w 3303"/>
              <a:gd name="T35" fmla="*/ 30 h 31"/>
              <a:gd name="T36" fmla="*/ 1712 w 3303"/>
              <a:gd name="T37" fmla="*/ 0 h 31"/>
              <a:gd name="T38" fmla="*/ 1835 w 3303"/>
              <a:gd name="T39" fmla="*/ 30 h 31"/>
              <a:gd name="T40" fmla="*/ 1957 w 3303"/>
              <a:gd name="T41" fmla="*/ 30 h 31"/>
              <a:gd name="T42" fmla="*/ 2079 w 3303"/>
              <a:gd name="T43" fmla="*/ 0 h 31"/>
              <a:gd name="T44" fmla="*/ 2324 w 3303"/>
              <a:gd name="T45" fmla="*/ 30 h 31"/>
              <a:gd name="T46" fmla="*/ 2202 w 3303"/>
              <a:gd name="T47" fmla="*/ 0 h 31"/>
              <a:gd name="T48" fmla="*/ 2324 w 3303"/>
              <a:gd name="T49" fmla="*/ 30 h 31"/>
              <a:gd name="T50" fmla="*/ 2446 w 3303"/>
              <a:gd name="T51" fmla="*/ 30 h 31"/>
              <a:gd name="T52" fmla="*/ 2569 w 3303"/>
              <a:gd name="T53" fmla="*/ 0 h 31"/>
              <a:gd name="T54" fmla="*/ 2813 w 3303"/>
              <a:gd name="T55" fmla="*/ 30 h 31"/>
              <a:gd name="T56" fmla="*/ 2691 w 3303"/>
              <a:gd name="T57" fmla="*/ 0 h 31"/>
              <a:gd name="T58" fmla="*/ 2813 w 3303"/>
              <a:gd name="T59" fmla="*/ 30 h 31"/>
              <a:gd name="T60" fmla="*/ 2935 w 3303"/>
              <a:gd name="T61" fmla="*/ 30 h 31"/>
              <a:gd name="T62" fmla="*/ 3058 w 3303"/>
              <a:gd name="T63" fmla="*/ 0 h 31"/>
              <a:gd name="T64" fmla="*/ 3302 w 3303"/>
              <a:gd name="T65" fmla="*/ 30 h 31"/>
              <a:gd name="T66" fmla="*/ 3180 w 3303"/>
              <a:gd name="T67" fmla="*/ 0 h 31"/>
              <a:gd name="T68" fmla="*/ 3302 w 3303"/>
              <a:gd name="T69" fmla="*/ 3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303" h="31">
                <a:moveTo>
                  <a:pt x="122" y="30"/>
                </a:moveTo>
                <a:lnTo>
                  <a:pt x="0" y="30"/>
                </a:lnTo>
                <a:lnTo>
                  <a:pt x="0" y="0"/>
                </a:lnTo>
                <a:lnTo>
                  <a:pt x="122" y="0"/>
                </a:lnTo>
                <a:lnTo>
                  <a:pt x="122" y="30"/>
                </a:lnTo>
                <a:close/>
                <a:moveTo>
                  <a:pt x="367" y="30"/>
                </a:moveTo>
                <a:lnTo>
                  <a:pt x="244" y="30"/>
                </a:lnTo>
                <a:lnTo>
                  <a:pt x="244" y="0"/>
                </a:lnTo>
                <a:lnTo>
                  <a:pt x="367" y="0"/>
                </a:lnTo>
                <a:lnTo>
                  <a:pt x="367" y="30"/>
                </a:lnTo>
                <a:close/>
                <a:moveTo>
                  <a:pt x="611" y="30"/>
                </a:moveTo>
                <a:lnTo>
                  <a:pt x="489" y="30"/>
                </a:lnTo>
                <a:lnTo>
                  <a:pt x="489" y="0"/>
                </a:lnTo>
                <a:lnTo>
                  <a:pt x="611" y="0"/>
                </a:lnTo>
                <a:lnTo>
                  <a:pt x="611" y="30"/>
                </a:lnTo>
                <a:close/>
                <a:moveTo>
                  <a:pt x="856" y="30"/>
                </a:moveTo>
                <a:lnTo>
                  <a:pt x="734" y="30"/>
                </a:lnTo>
                <a:lnTo>
                  <a:pt x="734" y="0"/>
                </a:lnTo>
                <a:lnTo>
                  <a:pt x="856" y="0"/>
                </a:lnTo>
                <a:lnTo>
                  <a:pt x="856" y="30"/>
                </a:lnTo>
                <a:close/>
                <a:moveTo>
                  <a:pt x="1101" y="30"/>
                </a:moveTo>
                <a:lnTo>
                  <a:pt x="978" y="30"/>
                </a:lnTo>
                <a:lnTo>
                  <a:pt x="978" y="0"/>
                </a:lnTo>
                <a:lnTo>
                  <a:pt x="1101" y="0"/>
                </a:lnTo>
                <a:lnTo>
                  <a:pt x="1101" y="30"/>
                </a:lnTo>
                <a:close/>
                <a:moveTo>
                  <a:pt x="1345" y="30"/>
                </a:moveTo>
                <a:lnTo>
                  <a:pt x="1223" y="30"/>
                </a:lnTo>
                <a:lnTo>
                  <a:pt x="1223" y="0"/>
                </a:lnTo>
                <a:lnTo>
                  <a:pt x="1345" y="0"/>
                </a:lnTo>
                <a:lnTo>
                  <a:pt x="1345" y="30"/>
                </a:lnTo>
                <a:close/>
                <a:moveTo>
                  <a:pt x="1590" y="30"/>
                </a:moveTo>
                <a:lnTo>
                  <a:pt x="1468" y="30"/>
                </a:lnTo>
                <a:lnTo>
                  <a:pt x="1468" y="0"/>
                </a:lnTo>
                <a:lnTo>
                  <a:pt x="1590" y="0"/>
                </a:lnTo>
                <a:lnTo>
                  <a:pt x="1590" y="30"/>
                </a:lnTo>
                <a:close/>
                <a:moveTo>
                  <a:pt x="1835" y="30"/>
                </a:moveTo>
                <a:lnTo>
                  <a:pt x="1712" y="30"/>
                </a:lnTo>
                <a:lnTo>
                  <a:pt x="1712" y="0"/>
                </a:lnTo>
                <a:lnTo>
                  <a:pt x="1835" y="0"/>
                </a:lnTo>
                <a:lnTo>
                  <a:pt x="1835" y="30"/>
                </a:lnTo>
                <a:close/>
                <a:moveTo>
                  <a:pt x="2079" y="30"/>
                </a:moveTo>
                <a:lnTo>
                  <a:pt x="1957" y="30"/>
                </a:lnTo>
                <a:lnTo>
                  <a:pt x="1957" y="0"/>
                </a:lnTo>
                <a:lnTo>
                  <a:pt x="2079" y="0"/>
                </a:lnTo>
                <a:lnTo>
                  <a:pt x="2079" y="30"/>
                </a:lnTo>
                <a:close/>
                <a:moveTo>
                  <a:pt x="2324" y="30"/>
                </a:moveTo>
                <a:lnTo>
                  <a:pt x="2202" y="30"/>
                </a:lnTo>
                <a:lnTo>
                  <a:pt x="2202" y="0"/>
                </a:lnTo>
                <a:lnTo>
                  <a:pt x="2324" y="0"/>
                </a:lnTo>
                <a:lnTo>
                  <a:pt x="2324" y="30"/>
                </a:lnTo>
                <a:close/>
                <a:moveTo>
                  <a:pt x="2569" y="30"/>
                </a:moveTo>
                <a:lnTo>
                  <a:pt x="2446" y="30"/>
                </a:lnTo>
                <a:lnTo>
                  <a:pt x="2446" y="0"/>
                </a:lnTo>
                <a:lnTo>
                  <a:pt x="2569" y="0"/>
                </a:lnTo>
                <a:lnTo>
                  <a:pt x="2569" y="30"/>
                </a:lnTo>
                <a:close/>
                <a:moveTo>
                  <a:pt x="2813" y="30"/>
                </a:moveTo>
                <a:lnTo>
                  <a:pt x="2691" y="30"/>
                </a:lnTo>
                <a:lnTo>
                  <a:pt x="2691" y="0"/>
                </a:lnTo>
                <a:lnTo>
                  <a:pt x="2813" y="0"/>
                </a:lnTo>
                <a:lnTo>
                  <a:pt x="2813" y="30"/>
                </a:lnTo>
                <a:close/>
                <a:moveTo>
                  <a:pt x="3058" y="30"/>
                </a:moveTo>
                <a:lnTo>
                  <a:pt x="2935" y="30"/>
                </a:lnTo>
                <a:lnTo>
                  <a:pt x="2935" y="0"/>
                </a:lnTo>
                <a:lnTo>
                  <a:pt x="3058" y="0"/>
                </a:lnTo>
                <a:lnTo>
                  <a:pt x="3058" y="30"/>
                </a:lnTo>
                <a:close/>
                <a:moveTo>
                  <a:pt x="3302" y="30"/>
                </a:moveTo>
                <a:lnTo>
                  <a:pt x="3180" y="30"/>
                </a:lnTo>
                <a:lnTo>
                  <a:pt x="3180" y="0"/>
                </a:lnTo>
                <a:lnTo>
                  <a:pt x="3302" y="0"/>
                </a:lnTo>
                <a:lnTo>
                  <a:pt x="3302" y="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82">
            <a:extLst>
              <a:ext uri="{FF2B5EF4-FFF2-40B4-BE49-F238E27FC236}">
                <a16:creationId xmlns:a16="http://schemas.microsoft.com/office/drawing/2014/main" id="{7623FA5A-9676-FE4F-82A0-9B0289F3C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444" y="4112247"/>
            <a:ext cx="5941810" cy="38442"/>
          </a:xfrm>
          <a:custGeom>
            <a:avLst/>
            <a:gdLst>
              <a:gd name="T0" fmla="*/ 0 w 4771"/>
              <a:gd name="T1" fmla="*/ 30 h 31"/>
              <a:gd name="T2" fmla="*/ 122 w 4771"/>
              <a:gd name="T3" fmla="*/ 0 h 31"/>
              <a:gd name="T4" fmla="*/ 367 w 4771"/>
              <a:gd name="T5" fmla="*/ 30 h 31"/>
              <a:gd name="T6" fmla="*/ 245 w 4771"/>
              <a:gd name="T7" fmla="*/ 0 h 31"/>
              <a:gd name="T8" fmla="*/ 367 w 4771"/>
              <a:gd name="T9" fmla="*/ 30 h 31"/>
              <a:gd name="T10" fmla="*/ 489 w 4771"/>
              <a:gd name="T11" fmla="*/ 30 h 31"/>
              <a:gd name="T12" fmla="*/ 612 w 4771"/>
              <a:gd name="T13" fmla="*/ 0 h 31"/>
              <a:gd name="T14" fmla="*/ 856 w 4771"/>
              <a:gd name="T15" fmla="*/ 30 h 31"/>
              <a:gd name="T16" fmla="*/ 734 w 4771"/>
              <a:gd name="T17" fmla="*/ 0 h 31"/>
              <a:gd name="T18" fmla="*/ 856 w 4771"/>
              <a:gd name="T19" fmla="*/ 30 h 31"/>
              <a:gd name="T20" fmla="*/ 978 w 4771"/>
              <a:gd name="T21" fmla="*/ 30 h 31"/>
              <a:gd name="T22" fmla="*/ 1101 w 4771"/>
              <a:gd name="T23" fmla="*/ 0 h 31"/>
              <a:gd name="T24" fmla="*/ 1345 w 4771"/>
              <a:gd name="T25" fmla="*/ 30 h 31"/>
              <a:gd name="T26" fmla="*/ 1223 w 4771"/>
              <a:gd name="T27" fmla="*/ 0 h 31"/>
              <a:gd name="T28" fmla="*/ 1345 w 4771"/>
              <a:gd name="T29" fmla="*/ 30 h 31"/>
              <a:gd name="T30" fmla="*/ 1468 w 4771"/>
              <a:gd name="T31" fmla="*/ 30 h 31"/>
              <a:gd name="T32" fmla="*/ 1590 w 4771"/>
              <a:gd name="T33" fmla="*/ 0 h 31"/>
              <a:gd name="T34" fmla="*/ 1835 w 4771"/>
              <a:gd name="T35" fmla="*/ 30 h 31"/>
              <a:gd name="T36" fmla="*/ 1712 w 4771"/>
              <a:gd name="T37" fmla="*/ 0 h 31"/>
              <a:gd name="T38" fmla="*/ 1835 w 4771"/>
              <a:gd name="T39" fmla="*/ 30 h 31"/>
              <a:gd name="T40" fmla="*/ 1957 w 4771"/>
              <a:gd name="T41" fmla="*/ 30 h 31"/>
              <a:gd name="T42" fmla="*/ 2079 w 4771"/>
              <a:gd name="T43" fmla="*/ 0 h 31"/>
              <a:gd name="T44" fmla="*/ 2324 w 4771"/>
              <a:gd name="T45" fmla="*/ 30 h 31"/>
              <a:gd name="T46" fmla="*/ 2202 w 4771"/>
              <a:gd name="T47" fmla="*/ 0 h 31"/>
              <a:gd name="T48" fmla="*/ 2324 w 4771"/>
              <a:gd name="T49" fmla="*/ 30 h 31"/>
              <a:gd name="T50" fmla="*/ 2446 w 4771"/>
              <a:gd name="T51" fmla="*/ 30 h 31"/>
              <a:gd name="T52" fmla="*/ 2569 w 4771"/>
              <a:gd name="T53" fmla="*/ 0 h 31"/>
              <a:gd name="T54" fmla="*/ 2813 w 4771"/>
              <a:gd name="T55" fmla="*/ 30 h 31"/>
              <a:gd name="T56" fmla="*/ 2691 w 4771"/>
              <a:gd name="T57" fmla="*/ 0 h 31"/>
              <a:gd name="T58" fmla="*/ 2813 w 4771"/>
              <a:gd name="T59" fmla="*/ 30 h 31"/>
              <a:gd name="T60" fmla="*/ 2936 w 4771"/>
              <a:gd name="T61" fmla="*/ 30 h 31"/>
              <a:gd name="T62" fmla="*/ 3058 w 4771"/>
              <a:gd name="T63" fmla="*/ 0 h 31"/>
              <a:gd name="T64" fmla="*/ 3303 w 4771"/>
              <a:gd name="T65" fmla="*/ 30 h 31"/>
              <a:gd name="T66" fmla="*/ 3180 w 4771"/>
              <a:gd name="T67" fmla="*/ 0 h 31"/>
              <a:gd name="T68" fmla="*/ 3303 w 4771"/>
              <a:gd name="T69" fmla="*/ 30 h 31"/>
              <a:gd name="T70" fmla="*/ 3425 w 4771"/>
              <a:gd name="T71" fmla="*/ 30 h 31"/>
              <a:gd name="T72" fmla="*/ 3547 w 4771"/>
              <a:gd name="T73" fmla="*/ 0 h 31"/>
              <a:gd name="T74" fmla="*/ 3792 w 4771"/>
              <a:gd name="T75" fmla="*/ 30 h 31"/>
              <a:gd name="T76" fmla="*/ 3670 w 4771"/>
              <a:gd name="T77" fmla="*/ 0 h 31"/>
              <a:gd name="T78" fmla="*/ 3792 w 4771"/>
              <a:gd name="T79" fmla="*/ 30 h 31"/>
              <a:gd name="T80" fmla="*/ 3914 w 4771"/>
              <a:gd name="T81" fmla="*/ 30 h 31"/>
              <a:gd name="T82" fmla="*/ 4037 w 4771"/>
              <a:gd name="T83" fmla="*/ 0 h 31"/>
              <a:gd name="T84" fmla="*/ 4281 w 4771"/>
              <a:gd name="T85" fmla="*/ 30 h 31"/>
              <a:gd name="T86" fmla="*/ 4159 w 4771"/>
              <a:gd name="T87" fmla="*/ 0 h 31"/>
              <a:gd name="T88" fmla="*/ 4281 w 4771"/>
              <a:gd name="T89" fmla="*/ 30 h 31"/>
              <a:gd name="T90" fmla="*/ 4403 w 4771"/>
              <a:gd name="T91" fmla="*/ 30 h 31"/>
              <a:gd name="T92" fmla="*/ 4526 w 4771"/>
              <a:gd name="T93" fmla="*/ 0 h 31"/>
              <a:gd name="T94" fmla="*/ 4770 w 4771"/>
              <a:gd name="T95" fmla="*/ 30 h 31"/>
              <a:gd name="T96" fmla="*/ 4648 w 4771"/>
              <a:gd name="T97" fmla="*/ 0 h 31"/>
              <a:gd name="T98" fmla="*/ 4770 w 4771"/>
              <a:gd name="T99" fmla="*/ 3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771" h="31">
                <a:moveTo>
                  <a:pt x="122" y="30"/>
                </a:moveTo>
                <a:lnTo>
                  <a:pt x="0" y="30"/>
                </a:lnTo>
                <a:lnTo>
                  <a:pt x="0" y="0"/>
                </a:lnTo>
                <a:lnTo>
                  <a:pt x="122" y="0"/>
                </a:lnTo>
                <a:lnTo>
                  <a:pt x="122" y="30"/>
                </a:lnTo>
                <a:close/>
                <a:moveTo>
                  <a:pt x="367" y="30"/>
                </a:moveTo>
                <a:lnTo>
                  <a:pt x="245" y="30"/>
                </a:lnTo>
                <a:lnTo>
                  <a:pt x="245" y="0"/>
                </a:lnTo>
                <a:lnTo>
                  <a:pt x="367" y="0"/>
                </a:lnTo>
                <a:lnTo>
                  <a:pt x="367" y="30"/>
                </a:lnTo>
                <a:close/>
                <a:moveTo>
                  <a:pt x="612" y="30"/>
                </a:moveTo>
                <a:lnTo>
                  <a:pt x="489" y="30"/>
                </a:lnTo>
                <a:lnTo>
                  <a:pt x="489" y="0"/>
                </a:lnTo>
                <a:lnTo>
                  <a:pt x="612" y="0"/>
                </a:lnTo>
                <a:lnTo>
                  <a:pt x="612" y="30"/>
                </a:lnTo>
                <a:close/>
                <a:moveTo>
                  <a:pt x="856" y="30"/>
                </a:moveTo>
                <a:lnTo>
                  <a:pt x="734" y="30"/>
                </a:lnTo>
                <a:lnTo>
                  <a:pt x="734" y="0"/>
                </a:lnTo>
                <a:lnTo>
                  <a:pt x="856" y="0"/>
                </a:lnTo>
                <a:lnTo>
                  <a:pt x="856" y="30"/>
                </a:lnTo>
                <a:close/>
                <a:moveTo>
                  <a:pt x="1101" y="30"/>
                </a:moveTo>
                <a:lnTo>
                  <a:pt x="978" y="30"/>
                </a:lnTo>
                <a:lnTo>
                  <a:pt x="978" y="0"/>
                </a:lnTo>
                <a:lnTo>
                  <a:pt x="1101" y="0"/>
                </a:lnTo>
                <a:lnTo>
                  <a:pt x="1101" y="30"/>
                </a:lnTo>
                <a:close/>
                <a:moveTo>
                  <a:pt x="1345" y="30"/>
                </a:moveTo>
                <a:lnTo>
                  <a:pt x="1223" y="30"/>
                </a:lnTo>
                <a:lnTo>
                  <a:pt x="1223" y="0"/>
                </a:lnTo>
                <a:lnTo>
                  <a:pt x="1345" y="0"/>
                </a:lnTo>
                <a:lnTo>
                  <a:pt x="1345" y="30"/>
                </a:lnTo>
                <a:close/>
                <a:moveTo>
                  <a:pt x="1590" y="30"/>
                </a:moveTo>
                <a:lnTo>
                  <a:pt x="1468" y="30"/>
                </a:lnTo>
                <a:lnTo>
                  <a:pt x="1468" y="0"/>
                </a:lnTo>
                <a:lnTo>
                  <a:pt x="1590" y="0"/>
                </a:lnTo>
                <a:lnTo>
                  <a:pt x="1590" y="30"/>
                </a:lnTo>
                <a:close/>
                <a:moveTo>
                  <a:pt x="1835" y="30"/>
                </a:moveTo>
                <a:lnTo>
                  <a:pt x="1712" y="30"/>
                </a:lnTo>
                <a:lnTo>
                  <a:pt x="1712" y="0"/>
                </a:lnTo>
                <a:lnTo>
                  <a:pt x="1835" y="0"/>
                </a:lnTo>
                <a:lnTo>
                  <a:pt x="1835" y="30"/>
                </a:lnTo>
                <a:close/>
                <a:moveTo>
                  <a:pt x="2079" y="30"/>
                </a:moveTo>
                <a:lnTo>
                  <a:pt x="1957" y="30"/>
                </a:lnTo>
                <a:lnTo>
                  <a:pt x="1957" y="0"/>
                </a:lnTo>
                <a:lnTo>
                  <a:pt x="2079" y="0"/>
                </a:lnTo>
                <a:lnTo>
                  <a:pt x="2079" y="30"/>
                </a:lnTo>
                <a:close/>
                <a:moveTo>
                  <a:pt x="2324" y="30"/>
                </a:moveTo>
                <a:lnTo>
                  <a:pt x="2202" y="30"/>
                </a:lnTo>
                <a:lnTo>
                  <a:pt x="2202" y="0"/>
                </a:lnTo>
                <a:lnTo>
                  <a:pt x="2324" y="0"/>
                </a:lnTo>
                <a:lnTo>
                  <a:pt x="2324" y="30"/>
                </a:lnTo>
                <a:close/>
                <a:moveTo>
                  <a:pt x="2569" y="30"/>
                </a:moveTo>
                <a:lnTo>
                  <a:pt x="2446" y="30"/>
                </a:lnTo>
                <a:lnTo>
                  <a:pt x="2446" y="0"/>
                </a:lnTo>
                <a:lnTo>
                  <a:pt x="2569" y="0"/>
                </a:lnTo>
                <a:lnTo>
                  <a:pt x="2569" y="30"/>
                </a:lnTo>
                <a:close/>
                <a:moveTo>
                  <a:pt x="2813" y="30"/>
                </a:moveTo>
                <a:lnTo>
                  <a:pt x="2691" y="30"/>
                </a:lnTo>
                <a:lnTo>
                  <a:pt x="2691" y="0"/>
                </a:lnTo>
                <a:lnTo>
                  <a:pt x="2813" y="0"/>
                </a:lnTo>
                <a:lnTo>
                  <a:pt x="2813" y="30"/>
                </a:lnTo>
                <a:close/>
                <a:moveTo>
                  <a:pt x="3058" y="30"/>
                </a:moveTo>
                <a:lnTo>
                  <a:pt x="2936" y="30"/>
                </a:lnTo>
                <a:lnTo>
                  <a:pt x="2936" y="0"/>
                </a:lnTo>
                <a:lnTo>
                  <a:pt x="3058" y="0"/>
                </a:lnTo>
                <a:lnTo>
                  <a:pt x="3058" y="30"/>
                </a:lnTo>
                <a:close/>
                <a:moveTo>
                  <a:pt x="3303" y="30"/>
                </a:moveTo>
                <a:lnTo>
                  <a:pt x="3180" y="30"/>
                </a:lnTo>
                <a:lnTo>
                  <a:pt x="3180" y="0"/>
                </a:lnTo>
                <a:lnTo>
                  <a:pt x="3303" y="0"/>
                </a:lnTo>
                <a:lnTo>
                  <a:pt x="3303" y="30"/>
                </a:lnTo>
                <a:close/>
                <a:moveTo>
                  <a:pt x="3547" y="30"/>
                </a:moveTo>
                <a:lnTo>
                  <a:pt x="3425" y="30"/>
                </a:lnTo>
                <a:lnTo>
                  <a:pt x="3425" y="0"/>
                </a:lnTo>
                <a:lnTo>
                  <a:pt x="3547" y="0"/>
                </a:lnTo>
                <a:lnTo>
                  <a:pt x="3547" y="30"/>
                </a:lnTo>
                <a:close/>
                <a:moveTo>
                  <a:pt x="3792" y="30"/>
                </a:moveTo>
                <a:lnTo>
                  <a:pt x="3670" y="30"/>
                </a:lnTo>
                <a:lnTo>
                  <a:pt x="3670" y="0"/>
                </a:lnTo>
                <a:lnTo>
                  <a:pt x="3792" y="0"/>
                </a:lnTo>
                <a:lnTo>
                  <a:pt x="3792" y="30"/>
                </a:lnTo>
                <a:close/>
                <a:moveTo>
                  <a:pt x="4037" y="30"/>
                </a:moveTo>
                <a:lnTo>
                  <a:pt x="3914" y="30"/>
                </a:lnTo>
                <a:lnTo>
                  <a:pt x="3914" y="0"/>
                </a:lnTo>
                <a:lnTo>
                  <a:pt x="4037" y="0"/>
                </a:lnTo>
                <a:lnTo>
                  <a:pt x="4037" y="30"/>
                </a:lnTo>
                <a:close/>
                <a:moveTo>
                  <a:pt x="4281" y="30"/>
                </a:moveTo>
                <a:lnTo>
                  <a:pt x="4159" y="30"/>
                </a:lnTo>
                <a:lnTo>
                  <a:pt x="4159" y="0"/>
                </a:lnTo>
                <a:lnTo>
                  <a:pt x="4281" y="0"/>
                </a:lnTo>
                <a:lnTo>
                  <a:pt x="4281" y="30"/>
                </a:lnTo>
                <a:close/>
                <a:moveTo>
                  <a:pt x="4526" y="30"/>
                </a:moveTo>
                <a:lnTo>
                  <a:pt x="4403" y="30"/>
                </a:lnTo>
                <a:lnTo>
                  <a:pt x="4403" y="0"/>
                </a:lnTo>
                <a:lnTo>
                  <a:pt x="4526" y="0"/>
                </a:lnTo>
                <a:lnTo>
                  <a:pt x="4526" y="30"/>
                </a:lnTo>
                <a:close/>
                <a:moveTo>
                  <a:pt x="4770" y="30"/>
                </a:moveTo>
                <a:lnTo>
                  <a:pt x="4648" y="30"/>
                </a:lnTo>
                <a:lnTo>
                  <a:pt x="4648" y="0"/>
                </a:lnTo>
                <a:lnTo>
                  <a:pt x="4770" y="0"/>
                </a:lnTo>
                <a:lnTo>
                  <a:pt x="4770" y="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 83">
            <a:extLst>
              <a:ext uri="{FF2B5EF4-FFF2-40B4-BE49-F238E27FC236}">
                <a16:creationId xmlns:a16="http://schemas.microsoft.com/office/drawing/2014/main" id="{C7F4E7A6-A308-6449-A4CF-7AA15D9A8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342" y="10888765"/>
            <a:ext cx="5788048" cy="1103794"/>
          </a:xfrm>
          <a:custGeom>
            <a:avLst/>
            <a:gdLst>
              <a:gd name="T0" fmla="*/ 2568 w 4648"/>
              <a:gd name="T1" fmla="*/ 30 h 888"/>
              <a:gd name="T2" fmla="*/ 2690 w 4648"/>
              <a:gd name="T3" fmla="*/ 0 h 888"/>
              <a:gd name="T4" fmla="*/ 2935 w 4648"/>
              <a:gd name="T5" fmla="*/ 30 h 888"/>
              <a:gd name="T6" fmla="*/ 2812 w 4648"/>
              <a:gd name="T7" fmla="*/ 0 h 888"/>
              <a:gd name="T8" fmla="*/ 2935 w 4648"/>
              <a:gd name="T9" fmla="*/ 30 h 888"/>
              <a:gd name="T10" fmla="*/ 3057 w 4648"/>
              <a:gd name="T11" fmla="*/ 30 h 888"/>
              <a:gd name="T12" fmla="*/ 3179 w 4648"/>
              <a:gd name="T13" fmla="*/ 0 h 888"/>
              <a:gd name="T14" fmla="*/ 3424 w 4648"/>
              <a:gd name="T15" fmla="*/ 30 h 888"/>
              <a:gd name="T16" fmla="*/ 3302 w 4648"/>
              <a:gd name="T17" fmla="*/ 0 h 888"/>
              <a:gd name="T18" fmla="*/ 3424 w 4648"/>
              <a:gd name="T19" fmla="*/ 30 h 888"/>
              <a:gd name="T20" fmla="*/ 3546 w 4648"/>
              <a:gd name="T21" fmla="*/ 30 h 888"/>
              <a:gd name="T22" fmla="*/ 3669 w 4648"/>
              <a:gd name="T23" fmla="*/ 0 h 888"/>
              <a:gd name="T24" fmla="*/ 3913 w 4648"/>
              <a:gd name="T25" fmla="*/ 30 h 888"/>
              <a:gd name="T26" fmla="*/ 3791 w 4648"/>
              <a:gd name="T27" fmla="*/ 0 h 888"/>
              <a:gd name="T28" fmla="*/ 3913 w 4648"/>
              <a:gd name="T29" fmla="*/ 30 h 888"/>
              <a:gd name="T30" fmla="*/ 4036 w 4648"/>
              <a:gd name="T31" fmla="*/ 30 h 888"/>
              <a:gd name="T32" fmla="*/ 4158 w 4648"/>
              <a:gd name="T33" fmla="*/ 0 h 888"/>
              <a:gd name="T34" fmla="*/ 4403 w 4648"/>
              <a:gd name="T35" fmla="*/ 30 h 888"/>
              <a:gd name="T36" fmla="*/ 4280 w 4648"/>
              <a:gd name="T37" fmla="*/ 0 h 888"/>
              <a:gd name="T38" fmla="*/ 4403 w 4648"/>
              <a:gd name="T39" fmla="*/ 30 h 888"/>
              <a:gd name="T40" fmla="*/ 4525 w 4648"/>
              <a:gd name="T41" fmla="*/ 30 h 888"/>
              <a:gd name="T42" fmla="*/ 4647 w 4648"/>
              <a:gd name="T43" fmla="*/ 0 h 888"/>
              <a:gd name="T44" fmla="*/ 2475 w 4648"/>
              <a:gd name="T45" fmla="*/ 152 h 888"/>
              <a:gd name="T46" fmla="*/ 2444 w 4648"/>
              <a:gd name="T47" fmla="*/ 29 h 888"/>
              <a:gd name="T48" fmla="*/ 2475 w 4648"/>
              <a:gd name="T49" fmla="*/ 152 h 888"/>
              <a:gd name="T50" fmla="*/ 2444 w 4648"/>
              <a:gd name="T51" fmla="*/ 396 h 888"/>
              <a:gd name="T52" fmla="*/ 2475 w 4648"/>
              <a:gd name="T53" fmla="*/ 274 h 888"/>
              <a:gd name="T54" fmla="*/ 2475 w 4648"/>
              <a:gd name="T55" fmla="*/ 641 h 888"/>
              <a:gd name="T56" fmla="*/ 2444 w 4648"/>
              <a:gd name="T57" fmla="*/ 518 h 888"/>
              <a:gd name="T58" fmla="*/ 2475 w 4648"/>
              <a:gd name="T59" fmla="*/ 641 h 888"/>
              <a:gd name="T60" fmla="*/ 0 w 4648"/>
              <a:gd name="T61" fmla="*/ 887 h 888"/>
              <a:gd name="T62" fmla="*/ 123 w 4648"/>
              <a:gd name="T63" fmla="*/ 857 h 888"/>
              <a:gd name="T64" fmla="*/ 367 w 4648"/>
              <a:gd name="T65" fmla="*/ 887 h 888"/>
              <a:gd name="T66" fmla="*/ 245 w 4648"/>
              <a:gd name="T67" fmla="*/ 857 h 888"/>
              <a:gd name="T68" fmla="*/ 367 w 4648"/>
              <a:gd name="T69" fmla="*/ 887 h 888"/>
              <a:gd name="T70" fmla="*/ 490 w 4648"/>
              <a:gd name="T71" fmla="*/ 887 h 888"/>
              <a:gd name="T72" fmla="*/ 612 w 4648"/>
              <a:gd name="T73" fmla="*/ 857 h 888"/>
              <a:gd name="T74" fmla="*/ 857 w 4648"/>
              <a:gd name="T75" fmla="*/ 887 h 888"/>
              <a:gd name="T76" fmla="*/ 734 w 4648"/>
              <a:gd name="T77" fmla="*/ 857 h 888"/>
              <a:gd name="T78" fmla="*/ 857 w 4648"/>
              <a:gd name="T79" fmla="*/ 887 h 888"/>
              <a:gd name="T80" fmla="*/ 979 w 4648"/>
              <a:gd name="T81" fmla="*/ 887 h 888"/>
              <a:gd name="T82" fmla="*/ 1101 w 4648"/>
              <a:gd name="T83" fmla="*/ 857 h 888"/>
              <a:gd name="T84" fmla="*/ 1346 w 4648"/>
              <a:gd name="T85" fmla="*/ 887 h 888"/>
              <a:gd name="T86" fmla="*/ 1223 w 4648"/>
              <a:gd name="T87" fmla="*/ 857 h 888"/>
              <a:gd name="T88" fmla="*/ 1346 w 4648"/>
              <a:gd name="T89" fmla="*/ 887 h 888"/>
              <a:gd name="T90" fmla="*/ 1468 w 4648"/>
              <a:gd name="T91" fmla="*/ 887 h 888"/>
              <a:gd name="T92" fmla="*/ 1590 w 4648"/>
              <a:gd name="T93" fmla="*/ 857 h 888"/>
              <a:gd name="T94" fmla="*/ 1835 w 4648"/>
              <a:gd name="T95" fmla="*/ 887 h 888"/>
              <a:gd name="T96" fmla="*/ 1713 w 4648"/>
              <a:gd name="T97" fmla="*/ 857 h 888"/>
              <a:gd name="T98" fmla="*/ 1835 w 4648"/>
              <a:gd name="T99" fmla="*/ 887 h 888"/>
              <a:gd name="T100" fmla="*/ 1957 w 4648"/>
              <a:gd name="T101" fmla="*/ 887 h 888"/>
              <a:gd name="T102" fmla="*/ 2080 w 4648"/>
              <a:gd name="T103" fmla="*/ 857 h 888"/>
              <a:gd name="T104" fmla="*/ 2324 w 4648"/>
              <a:gd name="T105" fmla="*/ 887 h 888"/>
              <a:gd name="T106" fmla="*/ 2202 w 4648"/>
              <a:gd name="T107" fmla="*/ 857 h 888"/>
              <a:gd name="T108" fmla="*/ 2324 w 4648"/>
              <a:gd name="T109" fmla="*/ 887 h 888"/>
              <a:gd name="T110" fmla="*/ 2447 w 4648"/>
              <a:gd name="T111" fmla="*/ 887 h 888"/>
              <a:gd name="T112" fmla="*/ 2444 w 4648"/>
              <a:gd name="T113" fmla="*/ 872 h 888"/>
              <a:gd name="T114" fmla="*/ 2475 w 4648"/>
              <a:gd name="T115" fmla="*/ 763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648" h="888">
                <a:moveTo>
                  <a:pt x="2690" y="30"/>
                </a:moveTo>
                <a:lnTo>
                  <a:pt x="2568" y="30"/>
                </a:lnTo>
                <a:lnTo>
                  <a:pt x="2568" y="0"/>
                </a:lnTo>
                <a:lnTo>
                  <a:pt x="2690" y="0"/>
                </a:lnTo>
                <a:lnTo>
                  <a:pt x="2690" y="30"/>
                </a:lnTo>
                <a:close/>
                <a:moveTo>
                  <a:pt x="2935" y="30"/>
                </a:moveTo>
                <a:lnTo>
                  <a:pt x="2812" y="30"/>
                </a:lnTo>
                <a:lnTo>
                  <a:pt x="2812" y="0"/>
                </a:lnTo>
                <a:lnTo>
                  <a:pt x="2935" y="0"/>
                </a:lnTo>
                <a:lnTo>
                  <a:pt x="2935" y="30"/>
                </a:lnTo>
                <a:close/>
                <a:moveTo>
                  <a:pt x="3179" y="30"/>
                </a:moveTo>
                <a:lnTo>
                  <a:pt x="3057" y="30"/>
                </a:lnTo>
                <a:lnTo>
                  <a:pt x="3057" y="0"/>
                </a:lnTo>
                <a:lnTo>
                  <a:pt x="3179" y="0"/>
                </a:lnTo>
                <a:lnTo>
                  <a:pt x="3179" y="30"/>
                </a:lnTo>
                <a:close/>
                <a:moveTo>
                  <a:pt x="3424" y="30"/>
                </a:moveTo>
                <a:lnTo>
                  <a:pt x="3302" y="30"/>
                </a:lnTo>
                <a:lnTo>
                  <a:pt x="3302" y="0"/>
                </a:lnTo>
                <a:lnTo>
                  <a:pt x="3424" y="0"/>
                </a:lnTo>
                <a:lnTo>
                  <a:pt x="3424" y="30"/>
                </a:lnTo>
                <a:close/>
                <a:moveTo>
                  <a:pt x="3669" y="30"/>
                </a:moveTo>
                <a:lnTo>
                  <a:pt x="3546" y="30"/>
                </a:lnTo>
                <a:lnTo>
                  <a:pt x="3546" y="0"/>
                </a:lnTo>
                <a:lnTo>
                  <a:pt x="3669" y="0"/>
                </a:lnTo>
                <a:lnTo>
                  <a:pt x="3669" y="30"/>
                </a:lnTo>
                <a:close/>
                <a:moveTo>
                  <a:pt x="3913" y="30"/>
                </a:moveTo>
                <a:lnTo>
                  <a:pt x="3791" y="30"/>
                </a:lnTo>
                <a:lnTo>
                  <a:pt x="3791" y="0"/>
                </a:lnTo>
                <a:lnTo>
                  <a:pt x="3913" y="0"/>
                </a:lnTo>
                <a:lnTo>
                  <a:pt x="3913" y="30"/>
                </a:lnTo>
                <a:close/>
                <a:moveTo>
                  <a:pt x="4158" y="30"/>
                </a:moveTo>
                <a:lnTo>
                  <a:pt x="4036" y="30"/>
                </a:lnTo>
                <a:lnTo>
                  <a:pt x="4036" y="0"/>
                </a:lnTo>
                <a:lnTo>
                  <a:pt x="4158" y="0"/>
                </a:lnTo>
                <a:lnTo>
                  <a:pt x="4158" y="30"/>
                </a:lnTo>
                <a:close/>
                <a:moveTo>
                  <a:pt x="4403" y="30"/>
                </a:moveTo>
                <a:lnTo>
                  <a:pt x="4280" y="30"/>
                </a:lnTo>
                <a:lnTo>
                  <a:pt x="4280" y="0"/>
                </a:lnTo>
                <a:lnTo>
                  <a:pt x="4403" y="0"/>
                </a:lnTo>
                <a:lnTo>
                  <a:pt x="4403" y="30"/>
                </a:lnTo>
                <a:close/>
                <a:moveTo>
                  <a:pt x="4647" y="30"/>
                </a:moveTo>
                <a:lnTo>
                  <a:pt x="4525" y="30"/>
                </a:lnTo>
                <a:lnTo>
                  <a:pt x="4525" y="0"/>
                </a:lnTo>
                <a:lnTo>
                  <a:pt x="4647" y="0"/>
                </a:lnTo>
                <a:lnTo>
                  <a:pt x="4647" y="30"/>
                </a:lnTo>
                <a:close/>
                <a:moveTo>
                  <a:pt x="2475" y="152"/>
                </a:moveTo>
                <a:lnTo>
                  <a:pt x="2444" y="152"/>
                </a:lnTo>
                <a:lnTo>
                  <a:pt x="2444" y="29"/>
                </a:lnTo>
                <a:lnTo>
                  <a:pt x="2475" y="29"/>
                </a:lnTo>
                <a:lnTo>
                  <a:pt x="2475" y="152"/>
                </a:lnTo>
                <a:close/>
                <a:moveTo>
                  <a:pt x="2475" y="396"/>
                </a:moveTo>
                <a:lnTo>
                  <a:pt x="2444" y="396"/>
                </a:lnTo>
                <a:lnTo>
                  <a:pt x="2444" y="274"/>
                </a:lnTo>
                <a:lnTo>
                  <a:pt x="2475" y="274"/>
                </a:lnTo>
                <a:lnTo>
                  <a:pt x="2475" y="396"/>
                </a:lnTo>
                <a:close/>
                <a:moveTo>
                  <a:pt x="2475" y="641"/>
                </a:moveTo>
                <a:lnTo>
                  <a:pt x="2444" y="641"/>
                </a:lnTo>
                <a:lnTo>
                  <a:pt x="2444" y="518"/>
                </a:lnTo>
                <a:lnTo>
                  <a:pt x="2475" y="518"/>
                </a:lnTo>
                <a:lnTo>
                  <a:pt x="2475" y="641"/>
                </a:lnTo>
                <a:close/>
                <a:moveTo>
                  <a:pt x="123" y="887"/>
                </a:moveTo>
                <a:lnTo>
                  <a:pt x="0" y="887"/>
                </a:lnTo>
                <a:lnTo>
                  <a:pt x="0" y="857"/>
                </a:lnTo>
                <a:lnTo>
                  <a:pt x="123" y="857"/>
                </a:lnTo>
                <a:lnTo>
                  <a:pt x="123" y="887"/>
                </a:lnTo>
                <a:close/>
                <a:moveTo>
                  <a:pt x="367" y="887"/>
                </a:moveTo>
                <a:lnTo>
                  <a:pt x="245" y="887"/>
                </a:lnTo>
                <a:lnTo>
                  <a:pt x="245" y="857"/>
                </a:lnTo>
                <a:lnTo>
                  <a:pt x="367" y="857"/>
                </a:lnTo>
                <a:lnTo>
                  <a:pt x="367" y="887"/>
                </a:lnTo>
                <a:close/>
                <a:moveTo>
                  <a:pt x="612" y="887"/>
                </a:moveTo>
                <a:lnTo>
                  <a:pt x="490" y="887"/>
                </a:lnTo>
                <a:lnTo>
                  <a:pt x="490" y="857"/>
                </a:lnTo>
                <a:lnTo>
                  <a:pt x="612" y="857"/>
                </a:lnTo>
                <a:lnTo>
                  <a:pt x="612" y="887"/>
                </a:lnTo>
                <a:close/>
                <a:moveTo>
                  <a:pt x="857" y="887"/>
                </a:moveTo>
                <a:lnTo>
                  <a:pt x="734" y="887"/>
                </a:lnTo>
                <a:lnTo>
                  <a:pt x="734" y="857"/>
                </a:lnTo>
                <a:lnTo>
                  <a:pt x="857" y="857"/>
                </a:lnTo>
                <a:lnTo>
                  <a:pt x="857" y="887"/>
                </a:lnTo>
                <a:close/>
                <a:moveTo>
                  <a:pt x="1101" y="887"/>
                </a:moveTo>
                <a:lnTo>
                  <a:pt x="979" y="887"/>
                </a:lnTo>
                <a:lnTo>
                  <a:pt x="979" y="857"/>
                </a:lnTo>
                <a:lnTo>
                  <a:pt x="1101" y="857"/>
                </a:lnTo>
                <a:lnTo>
                  <a:pt x="1101" y="887"/>
                </a:lnTo>
                <a:close/>
                <a:moveTo>
                  <a:pt x="1346" y="887"/>
                </a:moveTo>
                <a:lnTo>
                  <a:pt x="1223" y="887"/>
                </a:lnTo>
                <a:lnTo>
                  <a:pt x="1223" y="857"/>
                </a:lnTo>
                <a:lnTo>
                  <a:pt x="1346" y="857"/>
                </a:lnTo>
                <a:lnTo>
                  <a:pt x="1346" y="887"/>
                </a:lnTo>
                <a:close/>
                <a:moveTo>
                  <a:pt x="1590" y="887"/>
                </a:moveTo>
                <a:lnTo>
                  <a:pt x="1468" y="887"/>
                </a:lnTo>
                <a:lnTo>
                  <a:pt x="1468" y="857"/>
                </a:lnTo>
                <a:lnTo>
                  <a:pt x="1590" y="857"/>
                </a:lnTo>
                <a:lnTo>
                  <a:pt x="1590" y="887"/>
                </a:lnTo>
                <a:close/>
                <a:moveTo>
                  <a:pt x="1835" y="887"/>
                </a:moveTo>
                <a:lnTo>
                  <a:pt x="1713" y="887"/>
                </a:lnTo>
                <a:lnTo>
                  <a:pt x="1713" y="857"/>
                </a:lnTo>
                <a:lnTo>
                  <a:pt x="1835" y="857"/>
                </a:lnTo>
                <a:lnTo>
                  <a:pt x="1835" y="887"/>
                </a:lnTo>
                <a:close/>
                <a:moveTo>
                  <a:pt x="2080" y="887"/>
                </a:moveTo>
                <a:lnTo>
                  <a:pt x="1957" y="887"/>
                </a:lnTo>
                <a:lnTo>
                  <a:pt x="1957" y="857"/>
                </a:lnTo>
                <a:lnTo>
                  <a:pt x="2080" y="857"/>
                </a:lnTo>
                <a:lnTo>
                  <a:pt x="2080" y="887"/>
                </a:lnTo>
                <a:close/>
                <a:moveTo>
                  <a:pt x="2324" y="887"/>
                </a:moveTo>
                <a:lnTo>
                  <a:pt x="2202" y="887"/>
                </a:lnTo>
                <a:lnTo>
                  <a:pt x="2202" y="857"/>
                </a:lnTo>
                <a:lnTo>
                  <a:pt x="2324" y="857"/>
                </a:lnTo>
                <a:lnTo>
                  <a:pt x="2324" y="887"/>
                </a:lnTo>
                <a:close/>
                <a:moveTo>
                  <a:pt x="2475" y="887"/>
                </a:moveTo>
                <a:lnTo>
                  <a:pt x="2447" y="887"/>
                </a:lnTo>
                <a:lnTo>
                  <a:pt x="2447" y="872"/>
                </a:lnTo>
                <a:lnTo>
                  <a:pt x="2444" y="872"/>
                </a:lnTo>
                <a:lnTo>
                  <a:pt x="2444" y="763"/>
                </a:lnTo>
                <a:lnTo>
                  <a:pt x="2475" y="763"/>
                </a:lnTo>
                <a:lnTo>
                  <a:pt x="2475" y="88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B3B3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450E330D-9C81-1046-B524-1DA406D10012}"/>
              </a:ext>
            </a:extLst>
          </p:cNvPr>
          <p:cNvSpPr txBox="1">
            <a:spLocks/>
          </p:cNvSpPr>
          <p:nvPr/>
        </p:nvSpPr>
        <p:spPr>
          <a:xfrm>
            <a:off x="12188826" y="2826357"/>
            <a:ext cx="10726398" cy="1887672"/>
          </a:xfrm>
          <a:prstGeom prst="rect">
            <a:avLst/>
          </a:prstGeom>
        </p:spPr>
        <p:txBody>
          <a:bodyPr vert="horz" wrap="square" lIns="91416" tIns="45708" rIns="91416" bIns="4570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ts val="34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The CSR &amp; OM &amp; TL will be eligible for SIP payment if they achieved 75% &amp; above in 3 services out of 4. (BAQATI/HAYYAK/HBB/Upgrade)where he will get on those 3 achieved product excluding non achieved product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E74B8C-82AE-0D44-B6DE-7E6136D67C8B}"/>
              </a:ext>
            </a:extLst>
          </p:cNvPr>
          <p:cNvSpPr txBox="1"/>
          <p:nvPr/>
        </p:nvSpPr>
        <p:spPr>
          <a:xfrm>
            <a:off x="12188827" y="2244554"/>
            <a:ext cx="655949" cy="58464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Poppins" pitchFamily="2" charset="77"/>
                <a:ea typeface="League Spartan" charset="0"/>
                <a:cs typeface="Poppins" pitchFamily="2" charset="77"/>
              </a:rPr>
              <a:t>01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BD8F5043-F4A6-B04E-95B2-1F08F7B9F6BF}"/>
              </a:ext>
            </a:extLst>
          </p:cNvPr>
          <p:cNvSpPr txBox="1">
            <a:spLocks/>
          </p:cNvSpPr>
          <p:nvPr/>
        </p:nvSpPr>
        <p:spPr>
          <a:xfrm>
            <a:off x="12139406" y="5666422"/>
            <a:ext cx="11374301" cy="541150"/>
          </a:xfrm>
          <a:prstGeom prst="rect">
            <a:avLst/>
          </a:prstGeom>
        </p:spPr>
        <p:txBody>
          <a:bodyPr vert="horz" wrap="square" lIns="91416" tIns="45708" rIns="91416" bIns="4570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14" marR="0" lvl="0" indent="-342814" algn="l" defTabSz="1087636" rtl="0" eaLnBrk="1" fontAlgn="auto" latinLnBrk="0" hangingPunct="1">
              <a:lnSpc>
                <a:spcPts val="34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Maximum pay out  per quarter will be as below: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C310F4-B526-0742-8EF7-3F1AB43F3E35}"/>
              </a:ext>
            </a:extLst>
          </p:cNvPr>
          <p:cNvSpPr txBox="1"/>
          <p:nvPr/>
        </p:nvSpPr>
        <p:spPr>
          <a:xfrm>
            <a:off x="12139407" y="5160345"/>
            <a:ext cx="655949" cy="58464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Poppins" pitchFamily="2" charset="77"/>
                <a:ea typeface="League Spartan" charset="0"/>
                <a:cs typeface="Poppins" pitchFamily="2" charset="77"/>
              </a:rPr>
              <a:t>02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90077951-F384-5141-97B2-8C4938F6B584}"/>
              </a:ext>
            </a:extLst>
          </p:cNvPr>
          <p:cNvSpPr txBox="1">
            <a:spLocks/>
          </p:cNvSpPr>
          <p:nvPr/>
        </p:nvSpPr>
        <p:spPr>
          <a:xfrm>
            <a:off x="12224173" y="9790044"/>
            <a:ext cx="10956924" cy="54115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ts val="34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There will be a cap in sales achievement of 140% 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EEB8B2-0D9A-6748-B68D-EE7D380A6912}"/>
              </a:ext>
            </a:extLst>
          </p:cNvPr>
          <p:cNvSpPr txBox="1"/>
          <p:nvPr/>
        </p:nvSpPr>
        <p:spPr>
          <a:xfrm>
            <a:off x="12224174" y="8984086"/>
            <a:ext cx="655949" cy="58464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Poppins" pitchFamily="2" charset="77"/>
                <a:ea typeface="League Spartan" charset="0"/>
                <a:cs typeface="Poppins" pitchFamily="2" charset="77"/>
              </a:rPr>
              <a:t>03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0F2770FA-D16C-334E-BAB8-31EDF538CACC}"/>
              </a:ext>
            </a:extLst>
          </p:cNvPr>
          <p:cNvSpPr txBox="1">
            <a:spLocks/>
          </p:cNvSpPr>
          <p:nvPr/>
        </p:nvSpPr>
        <p:spPr>
          <a:xfrm>
            <a:off x="12224173" y="11201797"/>
            <a:ext cx="9087143" cy="1438831"/>
          </a:xfrm>
          <a:prstGeom prst="rect">
            <a:avLst/>
          </a:prstGeom>
        </p:spPr>
        <p:txBody>
          <a:bodyPr vert="horz" wrap="square" lIns="91416" tIns="45708" rIns="91416" bIns="4570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ts val="34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VOC will be additional payout at the end of the year, if they achieved their target, and the payout will be different based on there achievement %.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23E61E-30F3-D746-99A3-76C9AD09D8A8}"/>
              </a:ext>
            </a:extLst>
          </p:cNvPr>
          <p:cNvSpPr txBox="1"/>
          <p:nvPr/>
        </p:nvSpPr>
        <p:spPr>
          <a:xfrm>
            <a:off x="12224173" y="10619993"/>
            <a:ext cx="655949" cy="58464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1C2835"/>
                </a:solidFill>
                <a:effectLst/>
                <a:uLnTx/>
                <a:uFillTx/>
                <a:latin typeface="Poppins" pitchFamily="2" charset="77"/>
                <a:ea typeface="League Spartan" charset="0"/>
                <a:cs typeface="Poppins" pitchFamily="2" charset="77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1B7AA-AE45-7343-9419-F8E634769DE8}"/>
              </a:ext>
            </a:extLst>
          </p:cNvPr>
          <p:cNvSpPr txBox="1"/>
          <p:nvPr/>
        </p:nvSpPr>
        <p:spPr>
          <a:xfrm>
            <a:off x="2606402" y="3970034"/>
            <a:ext cx="737702" cy="12461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D2280D-1C58-2345-B7F1-28C79210FC75}"/>
              </a:ext>
            </a:extLst>
          </p:cNvPr>
          <p:cNvSpPr txBox="1"/>
          <p:nvPr/>
        </p:nvSpPr>
        <p:spPr>
          <a:xfrm>
            <a:off x="5901488" y="6137108"/>
            <a:ext cx="737702" cy="12461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81FAD-264E-9345-8705-73EAB3010518}"/>
              </a:ext>
            </a:extLst>
          </p:cNvPr>
          <p:cNvSpPr txBox="1"/>
          <p:nvPr/>
        </p:nvSpPr>
        <p:spPr>
          <a:xfrm>
            <a:off x="5862294" y="8839602"/>
            <a:ext cx="737702" cy="12461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C75A0B-BC50-1A45-9DC4-FD0E50DF4638}"/>
              </a:ext>
            </a:extLst>
          </p:cNvPr>
          <p:cNvSpPr txBox="1"/>
          <p:nvPr/>
        </p:nvSpPr>
        <p:spPr>
          <a:xfrm>
            <a:off x="2606402" y="11028114"/>
            <a:ext cx="737702" cy="12461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4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88221" y="1795714"/>
            <a:ext cx="23271904" cy="0"/>
          </a:xfrm>
          <a:prstGeom prst="line">
            <a:avLst/>
          </a:prstGeom>
          <a:ln w="6350" cmpd="dbl">
            <a:solidFill>
              <a:srgbClr val="659F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2101532" y="612371"/>
            <a:ext cx="1053490" cy="10156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2795356" y="6228645"/>
          <a:ext cx="76071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137">
                  <a:extLst>
                    <a:ext uri="{9D8B030D-6E8A-4147-A177-3AD203B41FA5}">
                      <a16:colId xmlns:a16="http://schemas.microsoft.com/office/drawing/2014/main" val="491056268"/>
                    </a:ext>
                  </a:extLst>
                </a:gridCol>
                <a:gridCol w="3936057">
                  <a:extLst>
                    <a:ext uri="{9D8B030D-6E8A-4147-A177-3AD203B41FA5}">
                      <a16:colId xmlns:a16="http://schemas.microsoft.com/office/drawing/2014/main" val="3966788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6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CSR &amp; Promoters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357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Outlet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2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Team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9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1,875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4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Senior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2,813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254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203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7">
            <a:extLst>
              <a:ext uri="{FF2B5EF4-FFF2-40B4-BE49-F238E27FC236}">
                <a16:creationId xmlns:a16="http://schemas.microsoft.com/office/drawing/2014/main" id="{93E75C5D-24CA-9A44-9D18-6D951A68B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36" y="3859183"/>
            <a:ext cx="2301118" cy="2244006"/>
          </a:xfrm>
          <a:custGeom>
            <a:avLst/>
            <a:gdLst>
              <a:gd name="T0" fmla="*/ 1930 w 3861"/>
              <a:gd name="T1" fmla="*/ 3860 h 3861"/>
              <a:gd name="T2" fmla="*/ 1930 w 3861"/>
              <a:gd name="T3" fmla="*/ 3860 h 3861"/>
              <a:gd name="T4" fmla="*/ 3860 w 3861"/>
              <a:gd name="T5" fmla="*/ 1930 h 3861"/>
              <a:gd name="T6" fmla="*/ 3860 w 3861"/>
              <a:gd name="T7" fmla="*/ 1930 h 3861"/>
              <a:gd name="T8" fmla="*/ 1930 w 3861"/>
              <a:gd name="T9" fmla="*/ 0 h 3861"/>
              <a:gd name="T10" fmla="*/ 1930 w 3861"/>
              <a:gd name="T11" fmla="*/ 0 h 3861"/>
              <a:gd name="T12" fmla="*/ 0 w 3861"/>
              <a:gd name="T13" fmla="*/ 1930 h 3861"/>
              <a:gd name="T14" fmla="*/ 0 w 3861"/>
              <a:gd name="T15" fmla="*/ 1930 h 3861"/>
              <a:gd name="T16" fmla="*/ 1930 w 3861"/>
              <a:gd name="T17" fmla="*/ 3860 h 3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61" h="3861">
                <a:moveTo>
                  <a:pt x="1930" y="3860"/>
                </a:moveTo>
                <a:lnTo>
                  <a:pt x="1930" y="3860"/>
                </a:lnTo>
                <a:cubicBezTo>
                  <a:pt x="2996" y="3860"/>
                  <a:pt x="3860" y="2996"/>
                  <a:pt x="3860" y="1930"/>
                </a:cubicBezTo>
                <a:lnTo>
                  <a:pt x="3860" y="1930"/>
                </a:lnTo>
                <a:cubicBezTo>
                  <a:pt x="3860" y="864"/>
                  <a:pt x="2996" y="0"/>
                  <a:pt x="1930" y="0"/>
                </a:cubicBezTo>
                <a:lnTo>
                  <a:pt x="1930" y="0"/>
                </a:lnTo>
                <a:cubicBezTo>
                  <a:pt x="865" y="0"/>
                  <a:pt x="0" y="864"/>
                  <a:pt x="0" y="1930"/>
                </a:cubicBezTo>
                <a:lnTo>
                  <a:pt x="0" y="1930"/>
                </a:lnTo>
                <a:cubicBezTo>
                  <a:pt x="0" y="2996"/>
                  <a:pt x="865" y="3860"/>
                  <a:pt x="1930" y="386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 lang="en-US" sz="4400" dirty="0">
              <a:solidFill>
                <a:schemeClr val="tx2"/>
              </a:solidFill>
              <a:latin typeface="Lato Light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6F5064-5146-0D47-AD87-D668BB776976}"/>
              </a:ext>
            </a:extLst>
          </p:cNvPr>
          <p:cNvSpPr txBox="1"/>
          <p:nvPr/>
        </p:nvSpPr>
        <p:spPr>
          <a:xfrm>
            <a:off x="6266962" y="446129"/>
            <a:ext cx="11189090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Open Sans" panose="020B0606030504020204" pitchFamily="34" charset="0"/>
                <a:cs typeface="Poppins" pitchFamily="2" charset="77"/>
              </a:rPr>
              <a:t>Distribution of Weightage per Products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49049BF-6105-8343-B76B-87056DA5D45F}"/>
              </a:ext>
            </a:extLst>
          </p:cNvPr>
          <p:cNvGrpSpPr/>
          <p:nvPr/>
        </p:nvGrpSpPr>
        <p:grpSpPr>
          <a:xfrm>
            <a:off x="369709" y="3415348"/>
            <a:ext cx="10407148" cy="8002784"/>
            <a:chOff x="6655370" y="3067525"/>
            <a:chExt cx="11294062" cy="6463398"/>
          </a:xfrm>
        </p:grpSpPr>
        <p:sp>
          <p:nvSpPr>
            <p:cNvPr id="52" name="Freeform 1">
              <a:extLst>
                <a:ext uri="{FF2B5EF4-FFF2-40B4-BE49-F238E27FC236}">
                  <a16:creationId xmlns:a16="http://schemas.microsoft.com/office/drawing/2014/main" id="{124692B7-4965-314A-952D-8A1646AF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0807" y="3067525"/>
              <a:ext cx="7468625" cy="3231699"/>
            </a:xfrm>
            <a:custGeom>
              <a:avLst/>
              <a:gdLst>
                <a:gd name="T0" fmla="*/ 11432 w 11433"/>
                <a:gd name="T1" fmla="*/ 4946 h 4947"/>
                <a:gd name="T2" fmla="*/ 0 w 11433"/>
                <a:gd name="T3" fmla="*/ 4946 h 4947"/>
                <a:gd name="T4" fmla="*/ 0 w 11433"/>
                <a:gd name="T5" fmla="*/ 2431 h 4947"/>
                <a:gd name="T6" fmla="*/ 6371 w 11433"/>
                <a:gd name="T7" fmla="*/ 2431 h 4947"/>
                <a:gd name="T8" fmla="*/ 6371 w 11433"/>
                <a:gd name="T9" fmla="*/ 0 h 4947"/>
                <a:gd name="T10" fmla="*/ 11432 w 11433"/>
                <a:gd name="T11" fmla="*/ 4946 h 4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33" h="4947">
                  <a:moveTo>
                    <a:pt x="11432" y="4946"/>
                  </a:moveTo>
                  <a:lnTo>
                    <a:pt x="0" y="4946"/>
                  </a:lnTo>
                  <a:lnTo>
                    <a:pt x="0" y="2431"/>
                  </a:lnTo>
                  <a:lnTo>
                    <a:pt x="6371" y="2431"/>
                  </a:lnTo>
                  <a:lnTo>
                    <a:pt x="6371" y="0"/>
                  </a:lnTo>
                  <a:lnTo>
                    <a:pt x="11432" y="494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400" dirty="0">
                <a:solidFill>
                  <a:schemeClr val="tx2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53" name="Freeform 2">
              <a:extLst>
                <a:ext uri="{FF2B5EF4-FFF2-40B4-BE49-F238E27FC236}">
                  <a16:creationId xmlns:a16="http://schemas.microsoft.com/office/drawing/2014/main" id="{A49CAD40-FC0F-4E4A-82C3-65B40FB0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5058" y="4113109"/>
              <a:ext cx="1909640" cy="567420"/>
            </a:xfrm>
            <a:custGeom>
              <a:avLst/>
              <a:gdLst>
                <a:gd name="T0" fmla="*/ 2922 w 2923"/>
                <a:gd name="T1" fmla="*/ 868 h 869"/>
                <a:gd name="T2" fmla="*/ 0 w 2923"/>
                <a:gd name="T3" fmla="*/ 868 h 869"/>
                <a:gd name="T4" fmla="*/ 0 w 2923"/>
                <a:gd name="T5" fmla="*/ 0 h 869"/>
                <a:gd name="T6" fmla="*/ 2922 w 2923"/>
                <a:gd name="T7" fmla="*/ 0 h 869"/>
                <a:gd name="T8" fmla="*/ 2922 w 2923"/>
                <a:gd name="T9" fmla="*/ 868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3" h="869">
                  <a:moveTo>
                    <a:pt x="2922" y="868"/>
                  </a:moveTo>
                  <a:lnTo>
                    <a:pt x="0" y="868"/>
                  </a:lnTo>
                  <a:lnTo>
                    <a:pt x="0" y="0"/>
                  </a:lnTo>
                  <a:lnTo>
                    <a:pt x="2922" y="0"/>
                  </a:lnTo>
                  <a:lnTo>
                    <a:pt x="2922" y="86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400" dirty="0">
                <a:solidFill>
                  <a:schemeClr val="tx2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4261D48E-3739-3849-8417-4B4FC4865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0807" y="6299224"/>
              <a:ext cx="7468625" cy="3231699"/>
            </a:xfrm>
            <a:custGeom>
              <a:avLst/>
              <a:gdLst>
                <a:gd name="T0" fmla="*/ 6371 w 11433"/>
                <a:gd name="T1" fmla="*/ 4945 h 4946"/>
                <a:gd name="T2" fmla="*/ 6371 w 11433"/>
                <a:gd name="T3" fmla="*/ 2478 h 4946"/>
                <a:gd name="T4" fmla="*/ 0 w 11433"/>
                <a:gd name="T5" fmla="*/ 2478 h 4946"/>
                <a:gd name="T6" fmla="*/ 0 w 11433"/>
                <a:gd name="T7" fmla="*/ 0 h 4946"/>
                <a:gd name="T8" fmla="*/ 11432 w 11433"/>
                <a:gd name="T9" fmla="*/ 0 h 4946"/>
                <a:gd name="T10" fmla="*/ 6371 w 11433"/>
                <a:gd name="T11" fmla="*/ 4945 h 4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33" h="4946">
                  <a:moveTo>
                    <a:pt x="6371" y="4945"/>
                  </a:moveTo>
                  <a:lnTo>
                    <a:pt x="6371" y="2478"/>
                  </a:lnTo>
                  <a:lnTo>
                    <a:pt x="0" y="2478"/>
                  </a:lnTo>
                  <a:lnTo>
                    <a:pt x="0" y="0"/>
                  </a:lnTo>
                  <a:lnTo>
                    <a:pt x="11432" y="0"/>
                  </a:lnTo>
                  <a:lnTo>
                    <a:pt x="6371" y="494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400" dirty="0">
                <a:solidFill>
                  <a:schemeClr val="tx2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FE8F47D6-E7BA-2E4E-8344-4997BB36D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5058" y="7776818"/>
              <a:ext cx="1909640" cy="567420"/>
            </a:xfrm>
            <a:custGeom>
              <a:avLst/>
              <a:gdLst>
                <a:gd name="T0" fmla="*/ 2922 w 2923"/>
                <a:gd name="T1" fmla="*/ 0 h 869"/>
                <a:gd name="T2" fmla="*/ 0 w 2923"/>
                <a:gd name="T3" fmla="*/ 0 h 869"/>
                <a:gd name="T4" fmla="*/ 0 w 2923"/>
                <a:gd name="T5" fmla="*/ 868 h 869"/>
                <a:gd name="T6" fmla="*/ 2922 w 2923"/>
                <a:gd name="T7" fmla="*/ 868 h 869"/>
                <a:gd name="T8" fmla="*/ 2922 w 2923"/>
                <a:gd name="T9" fmla="*/ 0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3" h="869">
                  <a:moveTo>
                    <a:pt x="2922" y="0"/>
                  </a:moveTo>
                  <a:lnTo>
                    <a:pt x="0" y="0"/>
                  </a:lnTo>
                  <a:lnTo>
                    <a:pt x="0" y="868"/>
                  </a:lnTo>
                  <a:lnTo>
                    <a:pt x="2922" y="868"/>
                  </a:lnTo>
                  <a:lnTo>
                    <a:pt x="2922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400" dirty="0">
                <a:solidFill>
                  <a:schemeClr val="tx2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93E75C5D-24CA-9A44-9D18-6D951A68B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370" y="7154349"/>
              <a:ext cx="2497223" cy="1812357"/>
            </a:xfrm>
            <a:custGeom>
              <a:avLst/>
              <a:gdLst>
                <a:gd name="T0" fmla="*/ 1930 w 3861"/>
                <a:gd name="T1" fmla="*/ 3860 h 3861"/>
                <a:gd name="T2" fmla="*/ 1930 w 3861"/>
                <a:gd name="T3" fmla="*/ 3860 h 3861"/>
                <a:gd name="T4" fmla="*/ 3860 w 3861"/>
                <a:gd name="T5" fmla="*/ 1930 h 3861"/>
                <a:gd name="T6" fmla="*/ 3860 w 3861"/>
                <a:gd name="T7" fmla="*/ 1930 h 3861"/>
                <a:gd name="T8" fmla="*/ 1930 w 3861"/>
                <a:gd name="T9" fmla="*/ 0 h 3861"/>
                <a:gd name="T10" fmla="*/ 1930 w 3861"/>
                <a:gd name="T11" fmla="*/ 0 h 3861"/>
                <a:gd name="T12" fmla="*/ 0 w 3861"/>
                <a:gd name="T13" fmla="*/ 1930 h 3861"/>
                <a:gd name="T14" fmla="*/ 0 w 3861"/>
                <a:gd name="T15" fmla="*/ 1930 h 3861"/>
                <a:gd name="T16" fmla="*/ 1930 w 3861"/>
                <a:gd name="T17" fmla="*/ 3860 h 3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61" h="3861">
                  <a:moveTo>
                    <a:pt x="1930" y="3860"/>
                  </a:moveTo>
                  <a:lnTo>
                    <a:pt x="1930" y="3860"/>
                  </a:lnTo>
                  <a:cubicBezTo>
                    <a:pt x="2996" y="3860"/>
                    <a:pt x="3860" y="2996"/>
                    <a:pt x="3860" y="1930"/>
                  </a:cubicBezTo>
                  <a:lnTo>
                    <a:pt x="3860" y="1930"/>
                  </a:lnTo>
                  <a:cubicBezTo>
                    <a:pt x="3860" y="864"/>
                    <a:pt x="2996" y="0"/>
                    <a:pt x="1930" y="0"/>
                  </a:cubicBezTo>
                  <a:lnTo>
                    <a:pt x="1930" y="0"/>
                  </a:lnTo>
                  <a:cubicBezTo>
                    <a:pt x="865" y="0"/>
                    <a:pt x="0" y="864"/>
                    <a:pt x="0" y="1930"/>
                  </a:cubicBezTo>
                  <a:lnTo>
                    <a:pt x="0" y="1930"/>
                  </a:lnTo>
                  <a:cubicBezTo>
                    <a:pt x="0" y="2996"/>
                    <a:pt x="865" y="3860"/>
                    <a:pt x="1930" y="386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chemeClr val="accent4"/>
              </a:solidFill>
            </a:ln>
            <a:effectLst/>
          </p:spPr>
          <p:txBody>
            <a:bodyPr wrap="none" anchor="ctr"/>
            <a:lstStyle/>
            <a:p>
              <a:endParaRPr lang="en-US" sz="4400" dirty="0">
                <a:solidFill>
                  <a:schemeClr val="tx2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69E45CDD-6AD9-DE44-BDF6-E9EC44B9C06B}"/>
              </a:ext>
            </a:extLst>
          </p:cNvPr>
          <p:cNvSpPr txBox="1"/>
          <p:nvPr/>
        </p:nvSpPr>
        <p:spPr>
          <a:xfrm>
            <a:off x="5475996" y="6168534"/>
            <a:ext cx="4019727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Individual Sales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86C730-904E-704A-BDF0-B9DE1F18F348}"/>
              </a:ext>
            </a:extLst>
          </p:cNvPr>
          <p:cNvSpPr txBox="1"/>
          <p:nvPr/>
        </p:nvSpPr>
        <p:spPr>
          <a:xfrm>
            <a:off x="6110088" y="8050239"/>
            <a:ext cx="2292299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VOC</a:t>
            </a:r>
            <a:r>
              <a:rPr lang="en-US" sz="3200" b="1" dirty="0">
                <a:solidFill>
                  <a:srgbClr val="FF0000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*</a:t>
            </a:r>
            <a:endParaRPr lang="en-US" sz="4000" b="1" dirty="0">
              <a:solidFill>
                <a:srgbClr val="FF0000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22492"/>
              </p:ext>
            </p:extLst>
          </p:nvPr>
        </p:nvGraphicFramePr>
        <p:xfrm>
          <a:off x="11172063" y="9025077"/>
          <a:ext cx="12345160" cy="2782149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2519774">
                  <a:extLst>
                    <a:ext uri="{9D8B030D-6E8A-4147-A177-3AD203B41FA5}">
                      <a16:colId xmlns:a16="http://schemas.microsoft.com/office/drawing/2014/main" val="2894356764"/>
                    </a:ext>
                  </a:extLst>
                </a:gridCol>
                <a:gridCol w="2232940">
                  <a:extLst>
                    <a:ext uri="{9D8B030D-6E8A-4147-A177-3AD203B41FA5}">
                      <a16:colId xmlns:a16="http://schemas.microsoft.com/office/drawing/2014/main" val="2080563217"/>
                    </a:ext>
                  </a:extLst>
                </a:gridCol>
                <a:gridCol w="1951277">
                  <a:extLst>
                    <a:ext uri="{9D8B030D-6E8A-4147-A177-3AD203B41FA5}">
                      <a16:colId xmlns:a16="http://schemas.microsoft.com/office/drawing/2014/main" val="169783580"/>
                    </a:ext>
                  </a:extLst>
                </a:gridCol>
                <a:gridCol w="1761782">
                  <a:extLst>
                    <a:ext uri="{9D8B030D-6E8A-4147-A177-3AD203B41FA5}">
                      <a16:colId xmlns:a16="http://schemas.microsoft.com/office/drawing/2014/main" val="3429748810"/>
                    </a:ext>
                  </a:extLst>
                </a:gridCol>
                <a:gridCol w="1597896">
                  <a:extLst>
                    <a:ext uri="{9D8B030D-6E8A-4147-A177-3AD203B41FA5}">
                      <a16:colId xmlns:a16="http://schemas.microsoft.com/office/drawing/2014/main" val="1405073077"/>
                    </a:ext>
                  </a:extLst>
                </a:gridCol>
                <a:gridCol w="2281491">
                  <a:extLst>
                    <a:ext uri="{9D8B030D-6E8A-4147-A177-3AD203B41FA5}">
                      <a16:colId xmlns:a16="http://schemas.microsoft.com/office/drawing/2014/main" val="719036915"/>
                    </a:ext>
                  </a:extLst>
                </a:gridCol>
              </a:tblGrid>
              <a:tr h="12210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u="none" strike="noStrike" dirty="0">
                          <a:solidFill>
                            <a:schemeClr val="tx2"/>
                          </a:solidFill>
                          <a:effectLst/>
                        </a:rPr>
                        <a:t>VOC</a:t>
                      </a:r>
                      <a:endParaRPr lang="en-US" sz="36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Unsatisfactory</a:t>
                      </a:r>
                      <a:endParaRPr lang="en-US" sz="28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Almost Achieved</a:t>
                      </a:r>
                      <a:endParaRPr lang="en-US" sz="28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Achieved</a:t>
                      </a:r>
                      <a:endParaRPr lang="en-US" sz="28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Well- Achieved</a:t>
                      </a:r>
                      <a:endParaRPr lang="en-US" sz="28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&gt;Outstanding</a:t>
                      </a:r>
                      <a:endParaRPr lang="en-US" sz="280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246592"/>
                  </a:ext>
                </a:extLst>
              </a:tr>
              <a:tr h="6938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VOC Perf.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&lt;70%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70-79%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80-89.9%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90-94.9%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tx2"/>
                          </a:solidFill>
                          <a:effectLst/>
                        </a:rPr>
                        <a:t>&gt;95%</a:t>
                      </a:r>
                      <a:endParaRPr lang="en-US" sz="2800" b="0" i="0" u="none" strike="noStrike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1476418"/>
                  </a:ext>
                </a:extLst>
              </a:tr>
              <a:tr h="867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Pay-out by 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-10%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10%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15%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20%</a:t>
                      </a:r>
                      <a:endParaRPr lang="en-US" sz="28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5032286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588221" y="1699462"/>
            <a:ext cx="23271904" cy="0"/>
          </a:xfrm>
          <a:prstGeom prst="line">
            <a:avLst/>
          </a:prstGeom>
          <a:ln w="6350" cmpd="dbl">
            <a:solidFill>
              <a:srgbClr val="659F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2101532" y="612371"/>
            <a:ext cx="1053490" cy="10156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75462"/>
              </p:ext>
            </p:extLst>
          </p:nvPr>
        </p:nvGraphicFramePr>
        <p:xfrm>
          <a:off x="11172063" y="3186747"/>
          <a:ext cx="12345160" cy="2753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032">
                  <a:extLst>
                    <a:ext uri="{9D8B030D-6E8A-4147-A177-3AD203B41FA5}">
                      <a16:colId xmlns:a16="http://schemas.microsoft.com/office/drawing/2014/main" val="123980142"/>
                    </a:ext>
                  </a:extLst>
                </a:gridCol>
                <a:gridCol w="2469032">
                  <a:extLst>
                    <a:ext uri="{9D8B030D-6E8A-4147-A177-3AD203B41FA5}">
                      <a16:colId xmlns:a16="http://schemas.microsoft.com/office/drawing/2014/main" val="4057563344"/>
                    </a:ext>
                  </a:extLst>
                </a:gridCol>
                <a:gridCol w="2469032">
                  <a:extLst>
                    <a:ext uri="{9D8B030D-6E8A-4147-A177-3AD203B41FA5}">
                      <a16:colId xmlns:a16="http://schemas.microsoft.com/office/drawing/2014/main" val="914282609"/>
                    </a:ext>
                  </a:extLst>
                </a:gridCol>
                <a:gridCol w="2469032">
                  <a:extLst>
                    <a:ext uri="{9D8B030D-6E8A-4147-A177-3AD203B41FA5}">
                      <a16:colId xmlns:a16="http://schemas.microsoft.com/office/drawing/2014/main" val="1651352518"/>
                    </a:ext>
                  </a:extLst>
                </a:gridCol>
                <a:gridCol w="2469032">
                  <a:extLst>
                    <a:ext uri="{9D8B030D-6E8A-4147-A177-3AD203B41FA5}">
                      <a16:colId xmlns:a16="http://schemas.microsoft.com/office/drawing/2014/main" val="525083124"/>
                    </a:ext>
                  </a:extLst>
                </a:gridCol>
              </a:tblGrid>
              <a:tr h="13765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HBB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BAQATI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HAYYAK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Upgrade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6630743"/>
                  </a:ext>
                </a:extLst>
              </a:tr>
              <a:tr h="13765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Weightage</a:t>
                      </a:r>
                      <a:r>
                        <a:rPr lang="en-US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815199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1004854" y="7416740"/>
            <a:ext cx="12740968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13382372" y="12372174"/>
            <a:ext cx="9772650" cy="76184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sz="2800" dirty="0">
                <a:solidFill>
                  <a:schemeClr val="tx2"/>
                </a:solidFill>
              </a:rPr>
              <a:t>The VOC will be paid by the end of the year as extra commission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956854" y="4557556"/>
            <a:ext cx="1001798" cy="943086"/>
            <a:chOff x="7911147" y="961188"/>
            <a:chExt cx="609600" cy="525464"/>
          </a:xfrm>
          <a:solidFill>
            <a:schemeClr val="accent6">
              <a:lumMod val="75000"/>
            </a:schemeClr>
          </a:solidFill>
        </p:grpSpPr>
        <p:grpSp>
          <p:nvGrpSpPr>
            <p:cNvPr id="25" name="noun_project_0737.eps"/>
            <p:cNvGrpSpPr>
              <a:grpSpLocks/>
            </p:cNvGrpSpPr>
            <p:nvPr/>
          </p:nvGrpSpPr>
          <p:grpSpPr bwMode="auto">
            <a:xfrm>
              <a:off x="7911147" y="961188"/>
              <a:ext cx="609600" cy="525464"/>
              <a:chOff x="722" y="1376"/>
              <a:chExt cx="384" cy="331"/>
            </a:xfrm>
            <a:grpFill/>
          </p:grpSpPr>
          <p:sp>
            <p:nvSpPr>
              <p:cNvPr id="27" name="Freeform 126"/>
              <p:cNvSpPr>
                <a:spLocks noEditPoints="1"/>
              </p:cNvSpPr>
              <p:nvPr/>
            </p:nvSpPr>
            <p:spPr bwMode="auto">
              <a:xfrm>
                <a:off x="722" y="1547"/>
                <a:ext cx="384" cy="160"/>
              </a:xfrm>
              <a:custGeom>
                <a:avLst/>
                <a:gdLst>
                  <a:gd name="T0" fmla="*/ 0 w 3456"/>
                  <a:gd name="T1" fmla="*/ 0 h 1440"/>
                  <a:gd name="T2" fmla="*/ 0 w 3456"/>
                  <a:gd name="T3" fmla="*/ 0 h 1440"/>
                  <a:gd name="T4" fmla="*/ 0 w 3456"/>
                  <a:gd name="T5" fmla="*/ 0 h 1440"/>
                  <a:gd name="T6" fmla="*/ 0 w 3456"/>
                  <a:gd name="T7" fmla="*/ 0 h 1440"/>
                  <a:gd name="T8" fmla="*/ 0 w 3456"/>
                  <a:gd name="T9" fmla="*/ 0 h 1440"/>
                  <a:gd name="T10" fmla="*/ 0 w 3456"/>
                  <a:gd name="T11" fmla="*/ 0 h 1440"/>
                  <a:gd name="T12" fmla="*/ 0 w 3456"/>
                  <a:gd name="T13" fmla="*/ 0 h 1440"/>
                  <a:gd name="T14" fmla="*/ 0 w 3456"/>
                  <a:gd name="T15" fmla="*/ 0 h 1440"/>
                  <a:gd name="T16" fmla="*/ 0 w 3456"/>
                  <a:gd name="T17" fmla="*/ 0 h 1440"/>
                  <a:gd name="T18" fmla="*/ 0 w 3456"/>
                  <a:gd name="T19" fmla="*/ 0 h 1440"/>
                  <a:gd name="T20" fmla="*/ 0 w 3456"/>
                  <a:gd name="T21" fmla="*/ 0 h 1440"/>
                  <a:gd name="T22" fmla="*/ 0 w 3456"/>
                  <a:gd name="T23" fmla="*/ 0 h 1440"/>
                  <a:gd name="T24" fmla="*/ 0 w 3456"/>
                  <a:gd name="T25" fmla="*/ 0 h 1440"/>
                  <a:gd name="T26" fmla="*/ 0 w 3456"/>
                  <a:gd name="T27" fmla="*/ 0 h 1440"/>
                  <a:gd name="T28" fmla="*/ 0 w 3456"/>
                  <a:gd name="T29" fmla="*/ 0 h 1440"/>
                  <a:gd name="T30" fmla="*/ 0 w 3456"/>
                  <a:gd name="T31" fmla="*/ 0 h 1440"/>
                  <a:gd name="T32" fmla="*/ 0 w 3456"/>
                  <a:gd name="T33" fmla="*/ 0 h 1440"/>
                  <a:gd name="T34" fmla="*/ 0 w 3456"/>
                  <a:gd name="T35" fmla="*/ 0 h 1440"/>
                  <a:gd name="T36" fmla="*/ 0 w 3456"/>
                  <a:gd name="T37" fmla="*/ 0 h 1440"/>
                  <a:gd name="T38" fmla="*/ 0 w 3456"/>
                  <a:gd name="T39" fmla="*/ 0 h 144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456" h="1440">
                    <a:moveTo>
                      <a:pt x="1728" y="287"/>
                    </a:moveTo>
                    <a:lnTo>
                      <a:pt x="1620" y="619"/>
                    </a:lnTo>
                    <a:lnTo>
                      <a:pt x="1271" y="619"/>
                    </a:lnTo>
                    <a:lnTo>
                      <a:pt x="1553" y="824"/>
                    </a:lnTo>
                    <a:lnTo>
                      <a:pt x="1445" y="1156"/>
                    </a:lnTo>
                    <a:lnTo>
                      <a:pt x="1728" y="951"/>
                    </a:lnTo>
                    <a:lnTo>
                      <a:pt x="2011" y="1156"/>
                    </a:lnTo>
                    <a:lnTo>
                      <a:pt x="1903" y="824"/>
                    </a:lnTo>
                    <a:lnTo>
                      <a:pt x="2185" y="619"/>
                    </a:lnTo>
                    <a:lnTo>
                      <a:pt x="1836" y="619"/>
                    </a:lnTo>
                    <a:lnTo>
                      <a:pt x="1728" y="287"/>
                    </a:lnTo>
                    <a:close/>
                    <a:moveTo>
                      <a:pt x="0" y="0"/>
                    </a:moveTo>
                    <a:lnTo>
                      <a:pt x="3456" y="0"/>
                    </a:lnTo>
                    <a:lnTo>
                      <a:pt x="3456" y="240"/>
                    </a:lnTo>
                    <a:lnTo>
                      <a:pt x="3264" y="240"/>
                    </a:lnTo>
                    <a:lnTo>
                      <a:pt x="3264" y="1440"/>
                    </a:lnTo>
                    <a:lnTo>
                      <a:pt x="192" y="1440"/>
                    </a:lnTo>
                    <a:lnTo>
                      <a:pt x="192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2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26" kern="0" dirty="0">
                  <a:solidFill>
                    <a:srgbClr val="F7911E"/>
                  </a:solidFill>
                  <a:latin typeface="Calibri"/>
                  <a:cs typeface="Arial" charset="0"/>
                </a:endParaRPr>
              </a:p>
            </p:txBody>
          </p:sp>
          <p:sp>
            <p:nvSpPr>
              <p:cNvPr id="28" name="Freeform 127"/>
              <p:cNvSpPr>
                <a:spLocks/>
              </p:cNvSpPr>
              <p:nvPr/>
            </p:nvSpPr>
            <p:spPr bwMode="auto">
              <a:xfrm>
                <a:off x="882" y="1376"/>
                <a:ext cx="64" cy="64"/>
              </a:xfrm>
              <a:custGeom>
                <a:avLst/>
                <a:gdLst>
                  <a:gd name="T0" fmla="*/ 0 w 576"/>
                  <a:gd name="T1" fmla="*/ 0 h 576"/>
                  <a:gd name="T2" fmla="*/ 0 w 576"/>
                  <a:gd name="T3" fmla="*/ 0 h 576"/>
                  <a:gd name="T4" fmla="*/ 0 w 576"/>
                  <a:gd name="T5" fmla="*/ 0 h 576"/>
                  <a:gd name="T6" fmla="*/ 0 w 576"/>
                  <a:gd name="T7" fmla="*/ 0 h 576"/>
                  <a:gd name="T8" fmla="*/ 0 w 576"/>
                  <a:gd name="T9" fmla="*/ 0 h 576"/>
                  <a:gd name="T10" fmla="*/ 0 w 576"/>
                  <a:gd name="T11" fmla="*/ 0 h 576"/>
                  <a:gd name="T12" fmla="*/ 0 w 576"/>
                  <a:gd name="T13" fmla="*/ 0 h 576"/>
                  <a:gd name="T14" fmla="*/ 0 w 576"/>
                  <a:gd name="T15" fmla="*/ 0 h 576"/>
                  <a:gd name="T16" fmla="*/ 0 w 576"/>
                  <a:gd name="T17" fmla="*/ 0 h 576"/>
                  <a:gd name="T18" fmla="*/ 0 w 576"/>
                  <a:gd name="T19" fmla="*/ 0 h 576"/>
                  <a:gd name="T20" fmla="*/ 0 w 576"/>
                  <a:gd name="T21" fmla="*/ 0 h 576"/>
                  <a:gd name="T22" fmla="*/ 0 w 576"/>
                  <a:gd name="T23" fmla="*/ 0 h 576"/>
                  <a:gd name="T24" fmla="*/ 0 w 576"/>
                  <a:gd name="T25" fmla="*/ 0 h 576"/>
                  <a:gd name="T26" fmla="*/ 0 w 576"/>
                  <a:gd name="T27" fmla="*/ 0 h 576"/>
                  <a:gd name="T28" fmla="*/ 0 w 576"/>
                  <a:gd name="T29" fmla="*/ 0 h 576"/>
                  <a:gd name="T30" fmla="*/ 0 w 576"/>
                  <a:gd name="T31" fmla="*/ 0 h 576"/>
                  <a:gd name="T32" fmla="*/ 0 w 576"/>
                  <a:gd name="T33" fmla="*/ 0 h 576"/>
                  <a:gd name="T34" fmla="*/ 0 w 576"/>
                  <a:gd name="T35" fmla="*/ 0 h 576"/>
                  <a:gd name="T36" fmla="*/ 0 w 576"/>
                  <a:gd name="T37" fmla="*/ 0 h 576"/>
                  <a:gd name="T38" fmla="*/ 0 w 576"/>
                  <a:gd name="T39" fmla="*/ 0 h 576"/>
                  <a:gd name="T40" fmla="*/ 0 w 576"/>
                  <a:gd name="T41" fmla="*/ 0 h 576"/>
                  <a:gd name="T42" fmla="*/ 0 w 576"/>
                  <a:gd name="T43" fmla="*/ 0 h 576"/>
                  <a:gd name="T44" fmla="*/ 0 w 576"/>
                  <a:gd name="T45" fmla="*/ 0 h 576"/>
                  <a:gd name="T46" fmla="*/ 0 w 576"/>
                  <a:gd name="T47" fmla="*/ 0 h 576"/>
                  <a:gd name="T48" fmla="*/ 0 w 576"/>
                  <a:gd name="T49" fmla="*/ 0 h 576"/>
                  <a:gd name="T50" fmla="*/ 0 w 576"/>
                  <a:gd name="T51" fmla="*/ 0 h 576"/>
                  <a:gd name="T52" fmla="*/ 0 w 576"/>
                  <a:gd name="T53" fmla="*/ 0 h 576"/>
                  <a:gd name="T54" fmla="*/ 0 w 576"/>
                  <a:gd name="T55" fmla="*/ 0 h 576"/>
                  <a:gd name="T56" fmla="*/ 0 w 576"/>
                  <a:gd name="T57" fmla="*/ 0 h 576"/>
                  <a:gd name="T58" fmla="*/ 0 w 576"/>
                  <a:gd name="T59" fmla="*/ 0 h 576"/>
                  <a:gd name="T60" fmla="*/ 0 w 576"/>
                  <a:gd name="T61" fmla="*/ 0 h 576"/>
                  <a:gd name="T62" fmla="*/ 0 w 576"/>
                  <a:gd name="T63" fmla="*/ 0 h 576"/>
                  <a:gd name="T64" fmla="*/ 0 w 576"/>
                  <a:gd name="T65" fmla="*/ 0 h 576"/>
                  <a:gd name="T66" fmla="*/ 0 w 576"/>
                  <a:gd name="T67" fmla="*/ 0 h 576"/>
                  <a:gd name="T68" fmla="*/ 0 w 576"/>
                  <a:gd name="T69" fmla="*/ 0 h 576"/>
                  <a:gd name="T70" fmla="*/ 0 w 576"/>
                  <a:gd name="T71" fmla="*/ 0 h 576"/>
                  <a:gd name="T72" fmla="*/ 0 w 576"/>
                  <a:gd name="T73" fmla="*/ 0 h 576"/>
                  <a:gd name="T74" fmla="*/ 0 w 576"/>
                  <a:gd name="T75" fmla="*/ 0 h 576"/>
                  <a:gd name="T76" fmla="*/ 0 w 576"/>
                  <a:gd name="T77" fmla="*/ 0 h 576"/>
                  <a:gd name="T78" fmla="*/ 0 w 576"/>
                  <a:gd name="T79" fmla="*/ 0 h 576"/>
                  <a:gd name="T80" fmla="*/ 0 w 576"/>
                  <a:gd name="T81" fmla="*/ 0 h 576"/>
                  <a:gd name="T82" fmla="*/ 0 w 576"/>
                  <a:gd name="T83" fmla="*/ 0 h 576"/>
                  <a:gd name="T84" fmla="*/ 0 w 576"/>
                  <a:gd name="T85" fmla="*/ 0 h 576"/>
                  <a:gd name="T86" fmla="*/ 0 w 576"/>
                  <a:gd name="T87" fmla="*/ 0 h 576"/>
                  <a:gd name="T88" fmla="*/ 0 w 576"/>
                  <a:gd name="T89" fmla="*/ 0 h 5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576" h="576">
                    <a:moveTo>
                      <a:pt x="288" y="0"/>
                    </a:moveTo>
                    <a:lnTo>
                      <a:pt x="331" y="3"/>
                    </a:lnTo>
                    <a:lnTo>
                      <a:pt x="371" y="12"/>
                    </a:lnTo>
                    <a:lnTo>
                      <a:pt x="409" y="26"/>
                    </a:lnTo>
                    <a:lnTo>
                      <a:pt x="445" y="46"/>
                    </a:lnTo>
                    <a:lnTo>
                      <a:pt x="477" y="70"/>
                    </a:lnTo>
                    <a:lnTo>
                      <a:pt x="506" y="99"/>
                    </a:lnTo>
                    <a:lnTo>
                      <a:pt x="530" y="131"/>
                    </a:lnTo>
                    <a:lnTo>
                      <a:pt x="549" y="167"/>
                    </a:lnTo>
                    <a:lnTo>
                      <a:pt x="563" y="204"/>
                    </a:lnTo>
                    <a:lnTo>
                      <a:pt x="573" y="245"/>
                    </a:lnTo>
                    <a:lnTo>
                      <a:pt x="576" y="288"/>
                    </a:lnTo>
                    <a:lnTo>
                      <a:pt x="573" y="330"/>
                    </a:lnTo>
                    <a:lnTo>
                      <a:pt x="563" y="371"/>
                    </a:lnTo>
                    <a:lnTo>
                      <a:pt x="549" y="410"/>
                    </a:lnTo>
                    <a:lnTo>
                      <a:pt x="530" y="445"/>
                    </a:lnTo>
                    <a:lnTo>
                      <a:pt x="506" y="477"/>
                    </a:lnTo>
                    <a:lnTo>
                      <a:pt x="477" y="505"/>
                    </a:lnTo>
                    <a:lnTo>
                      <a:pt x="445" y="529"/>
                    </a:lnTo>
                    <a:lnTo>
                      <a:pt x="409" y="549"/>
                    </a:lnTo>
                    <a:lnTo>
                      <a:pt x="371" y="564"/>
                    </a:lnTo>
                    <a:lnTo>
                      <a:pt x="331" y="573"/>
                    </a:lnTo>
                    <a:lnTo>
                      <a:pt x="288" y="576"/>
                    </a:lnTo>
                    <a:lnTo>
                      <a:pt x="245" y="573"/>
                    </a:lnTo>
                    <a:lnTo>
                      <a:pt x="205" y="564"/>
                    </a:lnTo>
                    <a:lnTo>
                      <a:pt x="167" y="549"/>
                    </a:lnTo>
                    <a:lnTo>
                      <a:pt x="131" y="529"/>
                    </a:lnTo>
                    <a:lnTo>
                      <a:pt x="99" y="505"/>
                    </a:lnTo>
                    <a:lnTo>
                      <a:pt x="70" y="477"/>
                    </a:lnTo>
                    <a:lnTo>
                      <a:pt x="46" y="445"/>
                    </a:lnTo>
                    <a:lnTo>
                      <a:pt x="27" y="410"/>
                    </a:lnTo>
                    <a:lnTo>
                      <a:pt x="13" y="371"/>
                    </a:lnTo>
                    <a:lnTo>
                      <a:pt x="3" y="330"/>
                    </a:lnTo>
                    <a:lnTo>
                      <a:pt x="0" y="288"/>
                    </a:lnTo>
                    <a:lnTo>
                      <a:pt x="3" y="245"/>
                    </a:lnTo>
                    <a:lnTo>
                      <a:pt x="13" y="204"/>
                    </a:lnTo>
                    <a:lnTo>
                      <a:pt x="27" y="167"/>
                    </a:lnTo>
                    <a:lnTo>
                      <a:pt x="46" y="131"/>
                    </a:lnTo>
                    <a:lnTo>
                      <a:pt x="70" y="99"/>
                    </a:lnTo>
                    <a:lnTo>
                      <a:pt x="99" y="70"/>
                    </a:lnTo>
                    <a:lnTo>
                      <a:pt x="131" y="46"/>
                    </a:lnTo>
                    <a:lnTo>
                      <a:pt x="167" y="26"/>
                    </a:lnTo>
                    <a:lnTo>
                      <a:pt x="205" y="12"/>
                    </a:lnTo>
                    <a:lnTo>
                      <a:pt x="245" y="3"/>
                    </a:lnTo>
                    <a:lnTo>
                      <a:pt x="28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2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26" kern="0" dirty="0">
                  <a:solidFill>
                    <a:srgbClr val="F7911E"/>
                  </a:solidFill>
                  <a:latin typeface="Calibri"/>
                  <a:cs typeface="Arial" charset="0"/>
                </a:endParaRPr>
              </a:p>
            </p:txBody>
          </p:sp>
          <p:sp>
            <p:nvSpPr>
              <p:cNvPr id="29" name="Freeform 128"/>
              <p:cNvSpPr>
                <a:spLocks/>
              </p:cNvSpPr>
              <p:nvPr/>
            </p:nvSpPr>
            <p:spPr bwMode="auto">
              <a:xfrm>
                <a:off x="834" y="1451"/>
                <a:ext cx="160" cy="85"/>
              </a:xfrm>
              <a:custGeom>
                <a:avLst/>
                <a:gdLst>
                  <a:gd name="T0" fmla="*/ 0 w 1440"/>
                  <a:gd name="T1" fmla="*/ 0 h 768"/>
                  <a:gd name="T2" fmla="*/ 0 w 1440"/>
                  <a:gd name="T3" fmla="*/ 0 h 768"/>
                  <a:gd name="T4" fmla="*/ 0 w 1440"/>
                  <a:gd name="T5" fmla="*/ 0 h 768"/>
                  <a:gd name="T6" fmla="*/ 0 w 1440"/>
                  <a:gd name="T7" fmla="*/ 0 h 768"/>
                  <a:gd name="T8" fmla="*/ 0 w 1440"/>
                  <a:gd name="T9" fmla="*/ 0 h 768"/>
                  <a:gd name="T10" fmla="*/ 0 w 1440"/>
                  <a:gd name="T11" fmla="*/ 0 h 768"/>
                  <a:gd name="T12" fmla="*/ 0 w 1440"/>
                  <a:gd name="T13" fmla="*/ 0 h 768"/>
                  <a:gd name="T14" fmla="*/ 0 w 1440"/>
                  <a:gd name="T15" fmla="*/ 0 h 768"/>
                  <a:gd name="T16" fmla="*/ 0 w 1440"/>
                  <a:gd name="T17" fmla="*/ 0 h 768"/>
                  <a:gd name="T18" fmla="*/ 0 w 1440"/>
                  <a:gd name="T19" fmla="*/ 0 h 768"/>
                  <a:gd name="T20" fmla="*/ 0 w 1440"/>
                  <a:gd name="T21" fmla="*/ 0 h 768"/>
                  <a:gd name="T22" fmla="*/ 0 w 1440"/>
                  <a:gd name="T23" fmla="*/ 0 h 768"/>
                  <a:gd name="T24" fmla="*/ 0 w 1440"/>
                  <a:gd name="T25" fmla="*/ 0 h 768"/>
                  <a:gd name="T26" fmla="*/ 0 w 1440"/>
                  <a:gd name="T27" fmla="*/ 0 h 768"/>
                  <a:gd name="T28" fmla="*/ 0 w 1440"/>
                  <a:gd name="T29" fmla="*/ 0 h 768"/>
                  <a:gd name="T30" fmla="*/ 0 w 1440"/>
                  <a:gd name="T31" fmla="*/ 0 h 768"/>
                  <a:gd name="T32" fmla="*/ 0 w 1440"/>
                  <a:gd name="T33" fmla="*/ 0 h 768"/>
                  <a:gd name="T34" fmla="*/ 0 w 1440"/>
                  <a:gd name="T35" fmla="*/ 0 h 768"/>
                  <a:gd name="T36" fmla="*/ 0 w 1440"/>
                  <a:gd name="T37" fmla="*/ 0 h 768"/>
                  <a:gd name="T38" fmla="*/ 0 w 1440"/>
                  <a:gd name="T39" fmla="*/ 0 h 768"/>
                  <a:gd name="T40" fmla="*/ 0 w 1440"/>
                  <a:gd name="T41" fmla="*/ 0 h 768"/>
                  <a:gd name="T42" fmla="*/ 0 w 1440"/>
                  <a:gd name="T43" fmla="*/ 0 h 768"/>
                  <a:gd name="T44" fmla="*/ 0 w 1440"/>
                  <a:gd name="T45" fmla="*/ 0 h 768"/>
                  <a:gd name="T46" fmla="*/ 0 w 1440"/>
                  <a:gd name="T47" fmla="*/ 0 h 768"/>
                  <a:gd name="T48" fmla="*/ 0 w 1440"/>
                  <a:gd name="T49" fmla="*/ 0 h 768"/>
                  <a:gd name="T50" fmla="*/ 0 w 1440"/>
                  <a:gd name="T51" fmla="*/ 0 h 768"/>
                  <a:gd name="T52" fmla="*/ 0 w 1440"/>
                  <a:gd name="T53" fmla="*/ 0 h 768"/>
                  <a:gd name="T54" fmla="*/ 0 w 1440"/>
                  <a:gd name="T55" fmla="*/ 0 h 768"/>
                  <a:gd name="T56" fmla="*/ 0 w 1440"/>
                  <a:gd name="T57" fmla="*/ 0 h 768"/>
                  <a:gd name="T58" fmla="*/ 0 w 1440"/>
                  <a:gd name="T59" fmla="*/ 0 h 768"/>
                  <a:gd name="T60" fmla="*/ 0 w 1440"/>
                  <a:gd name="T61" fmla="*/ 0 h 768"/>
                  <a:gd name="T62" fmla="*/ 0 w 1440"/>
                  <a:gd name="T63" fmla="*/ 0 h 768"/>
                  <a:gd name="T64" fmla="*/ 0 w 1440"/>
                  <a:gd name="T65" fmla="*/ 0 h 768"/>
                  <a:gd name="T66" fmla="*/ 0 w 1440"/>
                  <a:gd name="T67" fmla="*/ 0 h 768"/>
                  <a:gd name="T68" fmla="*/ 0 w 1440"/>
                  <a:gd name="T69" fmla="*/ 0 h 768"/>
                  <a:gd name="T70" fmla="*/ 0 w 1440"/>
                  <a:gd name="T71" fmla="*/ 0 h 768"/>
                  <a:gd name="T72" fmla="*/ 0 w 1440"/>
                  <a:gd name="T73" fmla="*/ 0 h 768"/>
                  <a:gd name="T74" fmla="*/ 0 w 1440"/>
                  <a:gd name="T75" fmla="*/ 0 h 768"/>
                  <a:gd name="T76" fmla="*/ 0 w 1440"/>
                  <a:gd name="T77" fmla="*/ 0 h 768"/>
                  <a:gd name="T78" fmla="*/ 0 w 1440"/>
                  <a:gd name="T79" fmla="*/ 0 h 768"/>
                  <a:gd name="T80" fmla="*/ 0 w 1440"/>
                  <a:gd name="T81" fmla="*/ 0 h 768"/>
                  <a:gd name="T82" fmla="*/ 0 w 1440"/>
                  <a:gd name="T83" fmla="*/ 0 h 768"/>
                  <a:gd name="T84" fmla="*/ 0 w 1440"/>
                  <a:gd name="T85" fmla="*/ 0 h 768"/>
                  <a:gd name="T86" fmla="*/ 0 w 1440"/>
                  <a:gd name="T87" fmla="*/ 0 h 768"/>
                  <a:gd name="T88" fmla="*/ 0 w 1440"/>
                  <a:gd name="T89" fmla="*/ 0 h 76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440" h="768">
                    <a:moveTo>
                      <a:pt x="337" y="0"/>
                    </a:moveTo>
                    <a:lnTo>
                      <a:pt x="1105" y="0"/>
                    </a:lnTo>
                    <a:lnTo>
                      <a:pt x="1148" y="3"/>
                    </a:lnTo>
                    <a:lnTo>
                      <a:pt x="1188" y="9"/>
                    </a:lnTo>
                    <a:lnTo>
                      <a:pt x="1225" y="18"/>
                    </a:lnTo>
                    <a:lnTo>
                      <a:pt x="1258" y="32"/>
                    </a:lnTo>
                    <a:lnTo>
                      <a:pt x="1290" y="49"/>
                    </a:lnTo>
                    <a:lnTo>
                      <a:pt x="1317" y="69"/>
                    </a:lnTo>
                    <a:lnTo>
                      <a:pt x="1341" y="91"/>
                    </a:lnTo>
                    <a:lnTo>
                      <a:pt x="1363" y="114"/>
                    </a:lnTo>
                    <a:lnTo>
                      <a:pt x="1382" y="140"/>
                    </a:lnTo>
                    <a:lnTo>
                      <a:pt x="1398" y="166"/>
                    </a:lnTo>
                    <a:lnTo>
                      <a:pt x="1411" y="194"/>
                    </a:lnTo>
                    <a:lnTo>
                      <a:pt x="1423" y="223"/>
                    </a:lnTo>
                    <a:lnTo>
                      <a:pt x="1430" y="252"/>
                    </a:lnTo>
                    <a:lnTo>
                      <a:pt x="1436" y="280"/>
                    </a:lnTo>
                    <a:lnTo>
                      <a:pt x="1439" y="309"/>
                    </a:lnTo>
                    <a:lnTo>
                      <a:pt x="1440" y="336"/>
                    </a:lnTo>
                    <a:lnTo>
                      <a:pt x="1440" y="768"/>
                    </a:lnTo>
                    <a:lnTo>
                      <a:pt x="1201" y="768"/>
                    </a:lnTo>
                    <a:lnTo>
                      <a:pt x="1201" y="384"/>
                    </a:lnTo>
                    <a:lnTo>
                      <a:pt x="1105" y="384"/>
                    </a:lnTo>
                    <a:lnTo>
                      <a:pt x="1105" y="768"/>
                    </a:lnTo>
                    <a:lnTo>
                      <a:pt x="337" y="768"/>
                    </a:lnTo>
                    <a:lnTo>
                      <a:pt x="337" y="384"/>
                    </a:lnTo>
                    <a:lnTo>
                      <a:pt x="241" y="384"/>
                    </a:lnTo>
                    <a:lnTo>
                      <a:pt x="241" y="768"/>
                    </a:lnTo>
                    <a:lnTo>
                      <a:pt x="0" y="768"/>
                    </a:lnTo>
                    <a:lnTo>
                      <a:pt x="0" y="336"/>
                    </a:lnTo>
                    <a:lnTo>
                      <a:pt x="3" y="309"/>
                    </a:lnTo>
                    <a:lnTo>
                      <a:pt x="6" y="280"/>
                    </a:lnTo>
                    <a:lnTo>
                      <a:pt x="11" y="252"/>
                    </a:lnTo>
                    <a:lnTo>
                      <a:pt x="19" y="223"/>
                    </a:lnTo>
                    <a:lnTo>
                      <a:pt x="31" y="194"/>
                    </a:lnTo>
                    <a:lnTo>
                      <a:pt x="44" y="166"/>
                    </a:lnTo>
                    <a:lnTo>
                      <a:pt x="60" y="140"/>
                    </a:lnTo>
                    <a:lnTo>
                      <a:pt x="79" y="114"/>
                    </a:lnTo>
                    <a:lnTo>
                      <a:pt x="101" y="91"/>
                    </a:lnTo>
                    <a:lnTo>
                      <a:pt x="125" y="69"/>
                    </a:lnTo>
                    <a:lnTo>
                      <a:pt x="152" y="49"/>
                    </a:lnTo>
                    <a:lnTo>
                      <a:pt x="183" y="32"/>
                    </a:lnTo>
                    <a:lnTo>
                      <a:pt x="217" y="18"/>
                    </a:lnTo>
                    <a:lnTo>
                      <a:pt x="254" y="9"/>
                    </a:lnTo>
                    <a:lnTo>
                      <a:pt x="294" y="3"/>
                    </a:lnTo>
                    <a:lnTo>
                      <a:pt x="3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2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26" kern="0" dirty="0">
                  <a:solidFill>
                    <a:srgbClr val="F7911E"/>
                  </a:solidFill>
                  <a:latin typeface="Calibri"/>
                  <a:cs typeface="Arial" charset="0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8088319" y="1232651"/>
              <a:ext cx="333129" cy="21907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326" kern="0" dirty="0">
                <a:solidFill>
                  <a:srgbClr val="F7911E"/>
                </a:solidFill>
                <a:latin typeface="Calibri"/>
                <a:cs typeface="Arial" charset="0"/>
              </a:endParaRPr>
            </a:p>
          </p:txBody>
        </p:sp>
      </p:grpSp>
      <p:pic>
        <p:nvPicPr>
          <p:cNvPr id="30" name="Picture 6" descr="ØµÙØ±Ø© Ø°Ø§Øª ØµÙØ©"/>
          <p:cNvPicPr>
            <a:picLocks noChangeAspect="1" noChangeArrowheads="1"/>
          </p:cNvPicPr>
          <p:nvPr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95" y="8808588"/>
            <a:ext cx="1458429" cy="145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ounded Rectangle 31"/>
          <p:cNvSpPr/>
          <p:nvPr/>
        </p:nvSpPr>
        <p:spPr>
          <a:xfrm>
            <a:off x="13794946" y="6444643"/>
            <a:ext cx="7973188" cy="73442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OM" sz="2400" b="1" dirty="0">
                <a:solidFill>
                  <a:srgbClr val="FF0000"/>
                </a:solidFill>
                <a:latin typeface="+mj-lt"/>
              </a:rPr>
              <a:t>*</a:t>
            </a:r>
            <a:r>
              <a:rPr lang="en-US" sz="2000" b="1" dirty="0">
                <a:solidFill>
                  <a:schemeClr val="tx2"/>
                </a:solidFill>
                <a:latin typeface="+mj-lt"/>
              </a:rPr>
              <a:t>Weightage Products can be changed quarterly based on business needs</a:t>
            </a:r>
          </a:p>
        </p:txBody>
      </p:sp>
    </p:spTree>
    <p:extLst>
      <p:ext uri="{BB962C8B-B14F-4D97-AF65-F5344CB8AC3E}">
        <p14:creationId xmlns:p14="http://schemas.microsoft.com/office/powerpoint/2010/main" val="103189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575588" y="1889681"/>
            <a:ext cx="23802062" cy="1003859"/>
          </a:xfrm>
          <a:prstGeom prst="rect">
            <a:avLst/>
          </a:prstGeom>
        </p:spPr>
        <p:txBody>
          <a:bodyPr anchor="ctr"/>
          <a:lstStyle>
            <a:lvl1pPr algn="l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 baseline="0">
                <a:solidFill>
                  <a:srgbClr val="FF9E1B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defTabSz="1828434"/>
            <a:r>
              <a:rPr lang="en-GB" sz="3600" b="1" i="1" kern="12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+mn-ea"/>
                <a:cs typeface="Poppins" pitchFamily="2" charset="77"/>
              </a:rPr>
              <a:t>New SIP Pay-out Scales  “ attainment Vs Achievement “ &amp; Value of Point %</a:t>
            </a:r>
            <a:endParaRPr lang="en-US" sz="3600" b="1" i="1" kern="1200" dirty="0">
              <a:solidFill>
                <a:schemeClr val="bg1">
                  <a:lumMod val="50000"/>
                </a:schemeClr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F5064-5146-0D47-AD87-D668BB776976}"/>
              </a:ext>
            </a:extLst>
          </p:cNvPr>
          <p:cNvSpPr txBox="1"/>
          <p:nvPr/>
        </p:nvSpPr>
        <p:spPr>
          <a:xfrm>
            <a:off x="8340758" y="345841"/>
            <a:ext cx="9206238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Open Sans" panose="020B0606030504020204" pitchFamily="34" charset="0"/>
                <a:cs typeface="Poppins" pitchFamily="2" charset="77"/>
              </a:rPr>
              <a:t>Measurement Scale Per product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82636" y="9086691"/>
            <a:ext cx="2253263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88221" y="1723525"/>
            <a:ext cx="23271904" cy="0"/>
          </a:xfrm>
          <a:prstGeom prst="line">
            <a:avLst/>
          </a:prstGeom>
          <a:ln w="6350" cmpd="dbl">
            <a:solidFill>
              <a:srgbClr val="659F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101532" y="612371"/>
            <a:ext cx="1053490" cy="10156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8221" y="2818508"/>
            <a:ext cx="4702103" cy="2941843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Individual Performance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HBB/BAQATI/HAYYAK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8221" y="10443370"/>
            <a:ext cx="4689470" cy="1501500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VOC</a:t>
            </a:r>
          </a:p>
        </p:txBody>
      </p:sp>
      <p:graphicFrame>
        <p:nvGraphicFramePr>
          <p:cNvPr id="21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25212"/>
              </p:ext>
            </p:extLst>
          </p:nvPr>
        </p:nvGraphicFramePr>
        <p:xfrm>
          <a:off x="5779895" y="2818508"/>
          <a:ext cx="16914254" cy="2718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91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841">
                  <a:extLst>
                    <a:ext uri="{9D8B030D-6E8A-4147-A177-3AD203B41FA5}">
                      <a16:colId xmlns:a16="http://schemas.microsoft.com/office/drawing/2014/main" val="1368708346"/>
                    </a:ext>
                  </a:extLst>
                </a:gridCol>
                <a:gridCol w="2425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6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35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Measurement Type</a:t>
                      </a:r>
                      <a:endParaRPr kumimoji="0" lang="en-GB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Unsatisfactory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Almost 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Well- 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&gt;Outstanding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4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% of Achievement Vs Target</a:t>
                      </a:r>
                      <a:endParaRPr kumimoji="0" lang="en-GB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&lt;75%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75-95%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96-110%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111-139%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&gt;140%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4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VALUE OF THE POINT </a:t>
                      </a: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0.0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0.150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0.250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0.45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0.75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14821"/>
              </p:ext>
            </p:extLst>
          </p:nvPr>
        </p:nvGraphicFramePr>
        <p:xfrm>
          <a:off x="5779895" y="9613802"/>
          <a:ext cx="16914257" cy="298299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911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841">
                  <a:extLst>
                    <a:ext uri="{9D8B030D-6E8A-4147-A177-3AD203B41FA5}">
                      <a16:colId xmlns:a16="http://schemas.microsoft.com/office/drawing/2014/main" val="1368708346"/>
                    </a:ext>
                  </a:extLst>
                </a:gridCol>
                <a:gridCol w="2425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6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11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Measurement Type</a:t>
                      </a:r>
                      <a:endParaRPr kumimoji="0" lang="en-GB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Unsatisfactory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Almost 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Well- Achieved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/>
                        <a:t>&gt;Outstanding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5548" marR="15548" marT="1554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4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% of Achievement Vs Target</a:t>
                      </a:r>
                      <a:endParaRPr kumimoji="0" lang="en-GB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&lt;70%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70-79%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80-89.9%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90-94.9%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&gt;95%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4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VALUE OF THE POINT </a:t>
                      </a: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82810" marR="182810" marT="91494" marB="91494" anchor="ctr" horzOverflow="overflow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-10%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10%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15%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20%</a:t>
                      </a:r>
                      <a:endParaRPr lang="en-US" sz="3200" b="0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75587" y="13060907"/>
            <a:ext cx="9797137" cy="47700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OM" sz="2400" b="1" dirty="0">
                <a:solidFill>
                  <a:schemeClr val="tx2"/>
                </a:solidFill>
              </a:rPr>
              <a:t>*</a:t>
            </a:r>
            <a:r>
              <a:rPr lang="en-US" sz="2400" b="1" dirty="0">
                <a:solidFill>
                  <a:schemeClr val="tx2"/>
                </a:solidFill>
              </a:rPr>
              <a:t>VALUE OF THE POINT can be changed quarterly based on business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5588" y="6111131"/>
            <a:ext cx="4702103" cy="2420424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Individual Performance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UPGRADE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12793"/>
              </p:ext>
            </p:extLst>
          </p:nvPr>
        </p:nvGraphicFramePr>
        <p:xfrm>
          <a:off x="5779896" y="6287462"/>
          <a:ext cx="16914255" cy="2244093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253374">
                  <a:extLst>
                    <a:ext uri="{9D8B030D-6E8A-4147-A177-3AD203B41FA5}">
                      <a16:colId xmlns:a16="http://schemas.microsoft.com/office/drawing/2014/main" val="3238090632"/>
                    </a:ext>
                  </a:extLst>
                </a:gridCol>
                <a:gridCol w="2615826">
                  <a:extLst>
                    <a:ext uri="{9D8B030D-6E8A-4147-A177-3AD203B41FA5}">
                      <a16:colId xmlns:a16="http://schemas.microsoft.com/office/drawing/2014/main" val="875982413"/>
                    </a:ext>
                  </a:extLst>
                </a:gridCol>
                <a:gridCol w="2700893">
                  <a:extLst>
                    <a:ext uri="{9D8B030D-6E8A-4147-A177-3AD203B41FA5}">
                      <a16:colId xmlns:a16="http://schemas.microsoft.com/office/drawing/2014/main" val="1392628533"/>
                    </a:ext>
                  </a:extLst>
                </a:gridCol>
                <a:gridCol w="2438601">
                  <a:extLst>
                    <a:ext uri="{9D8B030D-6E8A-4147-A177-3AD203B41FA5}">
                      <a16:colId xmlns:a16="http://schemas.microsoft.com/office/drawing/2014/main" val="2568747226"/>
                    </a:ext>
                  </a:extLst>
                </a:gridCol>
                <a:gridCol w="2211756">
                  <a:extLst>
                    <a:ext uri="{9D8B030D-6E8A-4147-A177-3AD203B41FA5}">
                      <a16:colId xmlns:a16="http://schemas.microsoft.com/office/drawing/2014/main" val="2470905879"/>
                    </a:ext>
                  </a:extLst>
                </a:gridCol>
                <a:gridCol w="2693805">
                  <a:extLst>
                    <a:ext uri="{9D8B030D-6E8A-4147-A177-3AD203B41FA5}">
                      <a16:colId xmlns:a16="http://schemas.microsoft.com/office/drawing/2014/main" val="1750243446"/>
                    </a:ext>
                  </a:extLst>
                </a:gridCol>
              </a:tblGrid>
              <a:tr h="8631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effectLst/>
                        </a:rPr>
                        <a:t>Upgrade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Unsatisfactory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Almost Achieved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Achieved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Well- Achieved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&gt;Outstanding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7898993"/>
                  </a:ext>
                </a:extLst>
              </a:tr>
              <a:tr h="690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% of Achievement Vs Target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&lt;75%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75-95%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96-110%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111-139%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&gt;140%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1128853"/>
                  </a:ext>
                </a:extLst>
              </a:tr>
              <a:tr h="690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VALUE OF THE POINT</a:t>
                      </a:r>
                      <a:endParaRPr lang="en-US" sz="2800" b="0" i="0" u="none" strike="noStrike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0.0</a:t>
                      </a:r>
                      <a:endParaRPr lang="en-US" sz="2800" b="0" i="0" u="none" strike="noStrike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0.10</a:t>
                      </a:r>
                      <a:endParaRPr lang="en-US" sz="2800" b="0" i="0" u="none" strike="noStrike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0.150</a:t>
                      </a:r>
                      <a:endParaRPr lang="en-US" sz="2800" b="0" i="0" u="none" strike="noStrike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0.30</a:t>
                      </a:r>
                      <a:endParaRPr lang="en-US" sz="2800" b="0" i="0" u="none" strike="noStrike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0.500</a:t>
                      </a:r>
                      <a:endParaRPr lang="en-US" sz="28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36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35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66F5064-5146-0D47-AD87-D668BB776976}"/>
              </a:ext>
            </a:extLst>
          </p:cNvPr>
          <p:cNvSpPr txBox="1"/>
          <p:nvPr/>
        </p:nvSpPr>
        <p:spPr>
          <a:xfrm>
            <a:off x="6063100" y="315999"/>
            <a:ext cx="12827038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Open Sans" panose="020B0606030504020204" pitchFamily="34" charset="0"/>
                <a:cs typeface="Poppins" pitchFamily="2" charset="77"/>
              </a:rPr>
              <a:t>Extra Payout Measurement Scale Per product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8221" y="1723525"/>
            <a:ext cx="23271904" cy="0"/>
          </a:xfrm>
          <a:prstGeom prst="line">
            <a:avLst/>
          </a:prstGeom>
          <a:ln w="6350" cmpd="dbl">
            <a:solidFill>
              <a:srgbClr val="659F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101532" y="612371"/>
            <a:ext cx="1053490" cy="10156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29969"/>
              </p:ext>
            </p:extLst>
          </p:nvPr>
        </p:nvGraphicFramePr>
        <p:xfrm>
          <a:off x="1286330" y="3712414"/>
          <a:ext cx="21468642" cy="914633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4870813">
                  <a:extLst>
                    <a:ext uri="{9D8B030D-6E8A-4147-A177-3AD203B41FA5}">
                      <a16:colId xmlns:a16="http://schemas.microsoft.com/office/drawing/2014/main" val="1700251620"/>
                    </a:ext>
                  </a:extLst>
                </a:gridCol>
                <a:gridCol w="3520751">
                  <a:extLst>
                    <a:ext uri="{9D8B030D-6E8A-4147-A177-3AD203B41FA5}">
                      <a16:colId xmlns:a16="http://schemas.microsoft.com/office/drawing/2014/main" val="2147997772"/>
                    </a:ext>
                  </a:extLst>
                </a:gridCol>
                <a:gridCol w="3626639">
                  <a:extLst>
                    <a:ext uri="{9D8B030D-6E8A-4147-A177-3AD203B41FA5}">
                      <a16:colId xmlns:a16="http://schemas.microsoft.com/office/drawing/2014/main" val="2223702202"/>
                    </a:ext>
                  </a:extLst>
                </a:gridCol>
                <a:gridCol w="2885428">
                  <a:extLst>
                    <a:ext uri="{9D8B030D-6E8A-4147-A177-3AD203B41FA5}">
                      <a16:colId xmlns:a16="http://schemas.microsoft.com/office/drawing/2014/main" val="2514193776"/>
                    </a:ext>
                  </a:extLst>
                </a:gridCol>
                <a:gridCol w="3679583">
                  <a:extLst>
                    <a:ext uri="{9D8B030D-6E8A-4147-A177-3AD203B41FA5}">
                      <a16:colId xmlns:a16="http://schemas.microsoft.com/office/drawing/2014/main" val="139086940"/>
                    </a:ext>
                  </a:extLst>
                </a:gridCol>
                <a:gridCol w="2885428">
                  <a:extLst>
                    <a:ext uri="{9D8B030D-6E8A-4147-A177-3AD203B41FA5}">
                      <a16:colId xmlns:a16="http://schemas.microsoft.com/office/drawing/2014/main" val="993699955"/>
                    </a:ext>
                  </a:extLst>
                </a:gridCol>
              </a:tblGrid>
              <a:tr h="707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HBB</a:t>
                      </a:r>
                      <a:endParaRPr lang="en-US" sz="3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Extra Payout</a:t>
                      </a:r>
                      <a:endParaRPr 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2498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% of Achievement Vs Target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141-159%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160-179%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180-189%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190-199%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&gt;200%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95745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Extra Payout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17.5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35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53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70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88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753811"/>
                  </a:ext>
                </a:extLst>
              </a:tr>
              <a:tr h="594653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5403885"/>
                  </a:ext>
                </a:extLst>
              </a:tr>
              <a:tr h="707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BAQATI</a:t>
                      </a:r>
                      <a:endParaRPr lang="en-US" sz="3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Extra Payout</a:t>
                      </a:r>
                      <a:endParaRPr 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938391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% of Achievement Vs Target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141-159%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160-179%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180-189%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190-199%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&gt;200%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30355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Extra Payout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17.5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35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53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70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88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803794"/>
                  </a:ext>
                </a:extLst>
              </a:tr>
              <a:tr h="594653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3639584"/>
                  </a:ext>
                </a:extLst>
              </a:tr>
              <a:tr h="707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HAYYAK</a:t>
                      </a:r>
                      <a:endParaRPr lang="en-US" sz="3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Extra Payout</a:t>
                      </a:r>
                      <a:endParaRPr 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15755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% of Achievement Vs Target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141-159%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160-179%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180-189%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190-199%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&gt;200%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83140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Extra Payout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11.0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22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33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44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55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760080"/>
                  </a:ext>
                </a:extLst>
              </a:tr>
              <a:tr h="594653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6493551"/>
                  </a:ext>
                </a:extLst>
              </a:tr>
              <a:tr h="707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UPGRADE</a:t>
                      </a:r>
                      <a:endParaRPr lang="en-US" sz="3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Extra Payout</a:t>
                      </a:r>
                      <a:endParaRPr 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48936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% of Achievement Vs Target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141-159%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160-179%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180-189%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190-199%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&gt;200%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5858961"/>
                  </a:ext>
                </a:extLst>
              </a:tr>
              <a:tr h="56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Extra Payout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4.0</a:t>
                      </a:r>
                      <a:endParaRPr lang="en-US" sz="28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16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20</a:t>
                      </a:r>
                      <a:endParaRPr lang="en-US" sz="2800" b="0" i="0" u="none" strike="noStrike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3233798"/>
                  </a:ext>
                </a:extLst>
              </a:tr>
            </a:tbl>
          </a:graphicData>
        </a:graphic>
      </p:graphicFrame>
      <p:sp>
        <p:nvSpPr>
          <p:cNvPr id="23" name="Title 1"/>
          <p:cNvSpPr txBox="1">
            <a:spLocks/>
          </p:cNvSpPr>
          <p:nvPr/>
        </p:nvSpPr>
        <p:spPr>
          <a:xfrm>
            <a:off x="588221" y="2391610"/>
            <a:ext cx="22846810" cy="1003859"/>
          </a:xfrm>
          <a:prstGeom prst="rect">
            <a:avLst/>
          </a:prstGeom>
        </p:spPr>
        <p:txBody>
          <a:bodyPr anchor="ctr"/>
          <a:lstStyle>
            <a:lvl1pPr algn="l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 baseline="0">
                <a:solidFill>
                  <a:srgbClr val="FF9E1B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defTabSz="1828434"/>
            <a:r>
              <a:rPr lang="en-GB" sz="3600" b="1" i="1" kern="12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+mn-ea"/>
                <a:cs typeface="Poppins" pitchFamily="2" charset="77"/>
              </a:rPr>
              <a:t>Additional Pay-out buffer Quarterly basis for CSR’s &amp; Promoter’s who </a:t>
            </a:r>
            <a:r>
              <a:rPr lang="en-GB" sz="3600" b="1" i="1" kern="1200" dirty="0">
                <a:solidFill>
                  <a:srgbClr val="C00000"/>
                </a:solidFill>
                <a:latin typeface="Poppins" pitchFamily="2" charset="77"/>
                <a:ea typeface="+mn-ea"/>
                <a:cs typeface="Poppins" pitchFamily="2" charset="77"/>
              </a:rPr>
              <a:t>exceed 140% </a:t>
            </a:r>
            <a:r>
              <a:rPr lang="en-GB" sz="3600" b="1" i="1" kern="12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+mn-ea"/>
                <a:cs typeface="Poppins" pitchFamily="2" charset="77"/>
              </a:rPr>
              <a:t>Vs achievement</a:t>
            </a:r>
            <a:endParaRPr lang="en-US" sz="3600" b="1" i="1" kern="1200" dirty="0">
              <a:solidFill>
                <a:schemeClr val="bg1">
                  <a:lumMod val="50000"/>
                </a:schemeClr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5392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2059900" y="582539"/>
            <a:ext cx="1114425" cy="10875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5943600"/>
            <a:ext cx="23088600" cy="186204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68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GPIA - Theme 15 - Light">
      <a:dk1>
        <a:srgbClr val="B3B3B3"/>
      </a:dk1>
      <a:lt1>
        <a:srgbClr val="FFFFFF"/>
      </a:lt1>
      <a:dk2>
        <a:srgbClr val="1C2835"/>
      </a:dk2>
      <a:lt2>
        <a:srgbClr val="FFFFFF"/>
      </a:lt2>
      <a:accent1>
        <a:srgbClr val="4DADB5"/>
      </a:accent1>
      <a:accent2>
        <a:srgbClr val="3984A3"/>
      </a:accent2>
      <a:accent3>
        <a:srgbClr val="2B526A"/>
      </a:accent3>
      <a:accent4>
        <a:srgbClr val="6C88B7"/>
      </a:accent4>
      <a:accent5>
        <a:srgbClr val="4C5974"/>
      </a:accent5>
      <a:accent6>
        <a:srgbClr val="303942"/>
      </a:accent6>
      <a:hlink>
        <a:srgbClr val="F33B48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{9BB6B025-EE7B-B14D-8EC8-5D2DE61B865A}tf16401378</Template>
  <TotalTime>102953</TotalTime>
  <Words>606</Words>
  <Application>Microsoft Office PowerPoint</Application>
  <PresentationFormat>Custom</PresentationFormat>
  <Paragraphs>200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Lato Light</vt:lpstr>
      <vt:lpstr>Open Sans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Omaima Habib Yousuf Al Balushi</dc:creator>
  <cp:keywords/>
  <dc:description/>
  <cp:lastModifiedBy>Administrator</cp:lastModifiedBy>
  <cp:revision>15732</cp:revision>
  <dcterms:created xsi:type="dcterms:W3CDTF">2014-11-12T21:47:38Z</dcterms:created>
  <dcterms:modified xsi:type="dcterms:W3CDTF">2021-09-12T13:56:59Z</dcterms:modified>
  <cp:category/>
</cp:coreProperties>
</file>